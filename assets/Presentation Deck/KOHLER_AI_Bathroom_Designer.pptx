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60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8858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26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3923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263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062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665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590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058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091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86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57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614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8B6"/>
                </a:solidFill>
                <a:latin typeface="Segoe UI"/>
              </a:defRPr>
            </a:pPr>
            <a:r>
              <a:t>KOHLER-MITWPU AI Research Lab Program  |  Track 1: KOHLER AI Bathroom Designer &amp;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8646" y="6400800"/>
            <a:ext cx="43152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F37"/>
                </a:solidFill>
                <a:latin typeface="Segoe UI"/>
              </a:defRPr>
            </a:pPr>
            <a:r>
              <a:rPr dirty="0"/>
              <a:t>1 / </a:t>
            </a:r>
            <a:r>
              <a:rPr lang="en-IN" dirty="0"/>
              <a:t>6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46607" y="2905780"/>
            <a:ext cx="10698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sz="3200" u="sng" dirty="0"/>
              <a:t>KOHLER AI Bathroom Designer &amp; Planner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6F668B8-0CEE-560A-1CBA-F084597E4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01" y="489204"/>
            <a:ext cx="1130880" cy="113088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66993B0-74F5-6760-908B-CCC123DED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9287" y="489204"/>
            <a:ext cx="1130880" cy="113088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F7E1A7A-060A-645F-B4EF-91EDD0B56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080" y="5087040"/>
            <a:ext cx="1130880" cy="113088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623FBF8-7278-45A1-F554-12F475CD88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9287" y="5087040"/>
            <a:ext cx="1130880" cy="1130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8B6"/>
                </a:solidFill>
                <a:latin typeface="Segoe UI"/>
              </a:defRPr>
            </a:pPr>
            <a:r>
              <a:t>KOHLER-MITWPU AI Research Lab Program  |  Track 1: KOHLER AI Bathroom Designer &amp;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8646" y="6400800"/>
            <a:ext cx="43152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F37"/>
                </a:solidFill>
                <a:latin typeface="Segoe UI"/>
              </a:defRPr>
            </a:pPr>
            <a:r>
              <a:rPr lang="en-IN" dirty="0"/>
              <a:t>2</a:t>
            </a:r>
            <a:r>
              <a:rPr dirty="0"/>
              <a:t> / </a:t>
            </a:r>
            <a:r>
              <a:rPr lang="en-IN" dirty="0"/>
              <a:t>6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31520" y="868680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en-IN" u="sng" dirty="0"/>
              <a:t>Executive Summary &amp; Approach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2011680"/>
            <a:ext cx="5246401" cy="416052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99940" y="2361708"/>
            <a:ext cx="4444181" cy="3552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E65F5F"/>
                </a:solidFill>
                <a:latin typeface="Segoe UI"/>
              </a:defRPr>
            </a:pPr>
            <a:r>
              <a:rPr sz="1300" dirty="0"/>
              <a:t>THE INDUSTRY PROBLEM</a:t>
            </a:r>
            <a:r>
              <a:rPr lang="en-IN" sz="1300" dirty="0"/>
              <a:t> - </a:t>
            </a:r>
            <a:r>
              <a:rPr sz="1300" u="sng" dirty="0"/>
              <a:t>Showroom Consultation Latency</a:t>
            </a:r>
            <a:br>
              <a:rPr lang="en-IN" sz="1300" u="sng" dirty="0"/>
            </a:br>
            <a:endParaRPr sz="1300" u="sng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sz="1250" b="1" dirty="0">
                <a:solidFill>
                  <a:srgbClr val="FFFFFF"/>
                </a:solidFill>
                <a:latin typeface="Segoe UI"/>
              </a:rPr>
              <a:t>3–7 Day Cycles: </a:t>
            </a:r>
            <a:r>
              <a:rPr sz="1250" dirty="0">
                <a:solidFill>
                  <a:srgbClr val="DCE2EC"/>
                </a:solidFill>
                <a:latin typeface="Segoe UI"/>
              </a:rPr>
              <a:t>Manual back-and-forth between homeowners, architects, and Kohler showroom sales reps.</a:t>
            </a:r>
            <a:br>
              <a:rPr lang="en-IN" sz="1250" dirty="0">
                <a:solidFill>
                  <a:srgbClr val="DCE2EC"/>
                </a:solidFill>
                <a:latin typeface="Segoe UI"/>
              </a:rPr>
            </a:br>
            <a:endParaRPr sz="1250" dirty="0">
              <a:solidFill>
                <a:srgbClr val="DCE2EC"/>
              </a:solidFill>
              <a:latin typeface="Segoe UI"/>
            </a:endParaRP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sz="1250" b="1" dirty="0">
                <a:solidFill>
                  <a:srgbClr val="FFFFFF"/>
                </a:solidFill>
                <a:latin typeface="Segoe UI"/>
              </a:rPr>
              <a:t>Clearance Violations: </a:t>
            </a:r>
            <a:r>
              <a:rPr sz="1250" dirty="0">
                <a:solidFill>
                  <a:srgbClr val="DCE2EC"/>
                </a:solidFill>
                <a:latin typeface="Segoe UI"/>
              </a:rPr>
              <a:t>Real-world installations frequently violate NKBA &amp; ADA physical building clearances.</a:t>
            </a:r>
            <a:br>
              <a:rPr lang="en-IN" sz="1250" dirty="0">
                <a:solidFill>
                  <a:srgbClr val="DCE2EC"/>
                </a:solidFill>
                <a:latin typeface="Segoe UI"/>
              </a:rPr>
            </a:br>
            <a:endParaRPr sz="1250" dirty="0">
              <a:solidFill>
                <a:srgbClr val="DCE2EC"/>
              </a:solidFill>
              <a:latin typeface="Segoe UI"/>
            </a:endParaRP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sz="1250" b="1" dirty="0">
                <a:solidFill>
                  <a:srgbClr val="FFFFFF"/>
                </a:solidFill>
                <a:latin typeface="Segoe UI"/>
              </a:rPr>
              <a:t>MEP Disconnects: </a:t>
            </a:r>
            <a:r>
              <a:rPr sz="1250" dirty="0">
                <a:solidFill>
                  <a:srgbClr val="DCE2EC"/>
                </a:solidFill>
                <a:latin typeface="Segoe UI"/>
              </a:rPr>
              <a:t>Neglecting wet-wall plumbing stacks causes excessive core-drilling and ballooning costs.</a:t>
            </a:r>
            <a:br>
              <a:rPr lang="en-IN" sz="1250" dirty="0">
                <a:solidFill>
                  <a:srgbClr val="DCE2EC"/>
                </a:solidFill>
                <a:latin typeface="Segoe UI"/>
              </a:rPr>
            </a:br>
            <a:endParaRPr sz="1250" dirty="0">
              <a:solidFill>
                <a:srgbClr val="DCE2EC"/>
              </a:solidFill>
              <a:latin typeface="Segoe UI"/>
            </a:endParaRP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sz="1250" b="1" dirty="0">
                <a:solidFill>
                  <a:srgbClr val="FFFFFF"/>
                </a:solidFill>
                <a:latin typeface="Segoe UI"/>
              </a:rPr>
              <a:t>Pricing Inaccuracies: </a:t>
            </a:r>
            <a:r>
              <a:rPr sz="1250" dirty="0">
                <a:solidFill>
                  <a:srgbClr val="DCE2EC"/>
                </a:solidFill>
                <a:latin typeface="Segoe UI"/>
              </a:rPr>
              <a:t>Discrepancies between 3D conceptual renderings and actual itemized B2B quotes.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79459" y="2011680"/>
            <a:ext cx="5246401" cy="416052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80996" y="2394123"/>
            <a:ext cx="3977640" cy="373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rPr sz="1300" dirty="0"/>
              <a:t>OUR CORE APPROACH</a:t>
            </a:r>
            <a:r>
              <a:rPr lang="en-IN" sz="1300" dirty="0"/>
              <a:t> - </a:t>
            </a:r>
            <a:r>
              <a:rPr sz="1300" u="sng" dirty="0"/>
              <a:t>Dual-Pathway Spatial AI</a:t>
            </a:r>
            <a:br>
              <a:rPr lang="en-IN" sz="1300" dirty="0"/>
            </a:br>
            <a:endParaRPr sz="1300" dirty="0"/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sz="1250" b="1" dirty="0">
                <a:solidFill>
                  <a:srgbClr val="FFFFFF"/>
                </a:solidFill>
                <a:latin typeface="Segoe UI"/>
              </a:rPr>
              <a:t>Predefined Constraints: </a:t>
            </a:r>
            <a:r>
              <a:rPr sz="1250" dirty="0">
                <a:solidFill>
                  <a:srgbClr val="DCE2EC"/>
                </a:solidFill>
                <a:latin typeface="Segoe UI"/>
              </a:rPr>
              <a:t>Parametric envelope sliders (width, depth, height), budget dial, and curated themes.</a:t>
            </a:r>
            <a:br>
              <a:rPr lang="en-IN" sz="1250" dirty="0">
                <a:solidFill>
                  <a:srgbClr val="DCE2EC"/>
                </a:solidFill>
                <a:latin typeface="Segoe UI"/>
              </a:rPr>
            </a:br>
            <a:endParaRPr sz="1250" dirty="0">
              <a:solidFill>
                <a:srgbClr val="DCE2EC"/>
              </a:solidFill>
              <a:latin typeface="Segoe UI"/>
            </a:endParaRP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sz="1250" b="1" dirty="0">
                <a:solidFill>
                  <a:srgbClr val="FFFFFF"/>
                </a:solidFill>
                <a:latin typeface="Segoe UI"/>
              </a:rPr>
              <a:t>Natural-Language AI: </a:t>
            </a:r>
            <a:r>
              <a:rPr sz="1250" dirty="0">
                <a:solidFill>
                  <a:srgbClr val="DCE2EC"/>
                </a:solidFill>
                <a:latin typeface="Segoe UI"/>
              </a:rPr>
              <a:t>Voice &amp; freeform prompt extraction supporting complex customer </a:t>
            </a:r>
            <a:r>
              <a:rPr sz="1250" dirty="0" err="1">
                <a:solidFill>
                  <a:srgbClr val="DCE2EC"/>
                </a:solidFill>
                <a:latin typeface="Segoe UI"/>
              </a:rPr>
              <a:t>wishlists</a:t>
            </a:r>
            <a:r>
              <a:rPr sz="1250" dirty="0">
                <a:solidFill>
                  <a:srgbClr val="DCE2EC"/>
                </a:solidFill>
                <a:latin typeface="Segoe UI"/>
              </a:rPr>
              <a:t> in real-time.</a:t>
            </a:r>
            <a:br>
              <a:rPr lang="en-IN" sz="1250" dirty="0">
                <a:solidFill>
                  <a:srgbClr val="DCE2EC"/>
                </a:solidFill>
                <a:latin typeface="Segoe UI"/>
              </a:rPr>
            </a:br>
            <a:endParaRPr sz="1250" dirty="0">
              <a:solidFill>
                <a:srgbClr val="DCE2EC"/>
              </a:solidFill>
              <a:latin typeface="Segoe UI"/>
            </a:endParaRP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sz="1250" b="1" dirty="0">
                <a:solidFill>
                  <a:srgbClr val="FFFFFF"/>
                </a:solidFill>
                <a:latin typeface="Segoe UI"/>
              </a:rPr>
              <a:t>Pareto Scoring: </a:t>
            </a:r>
            <a:r>
              <a:rPr sz="1250" dirty="0">
                <a:solidFill>
                  <a:srgbClr val="DCE2EC"/>
                </a:solidFill>
                <a:latin typeface="Segoe UI"/>
              </a:rPr>
              <a:t>Mathematical multi-objective optimization balancing physical clearance, budget, and aesthetics.</a:t>
            </a:r>
            <a:br>
              <a:rPr lang="en-IN" sz="1250" dirty="0">
                <a:solidFill>
                  <a:srgbClr val="DCE2EC"/>
                </a:solidFill>
                <a:latin typeface="Segoe UI"/>
              </a:rPr>
            </a:br>
            <a:endParaRPr sz="1250" dirty="0">
              <a:solidFill>
                <a:srgbClr val="DCE2EC"/>
              </a:solidFill>
              <a:latin typeface="Segoe UI"/>
            </a:endParaRP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sz="1250" b="1" dirty="0">
                <a:solidFill>
                  <a:srgbClr val="FFFFFF"/>
                </a:solidFill>
                <a:latin typeface="Segoe UI"/>
              </a:rPr>
              <a:t>Production Speed: </a:t>
            </a:r>
            <a:r>
              <a:rPr sz="1250" dirty="0">
                <a:solidFill>
                  <a:srgbClr val="DCE2EC"/>
                </a:solidFill>
                <a:latin typeface="Segoe UI"/>
              </a:rPr>
              <a:t>Generates fully code-compliant Kohler product bundles in under 3 seconds.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B7D9A4D-1AF7-810B-FC89-E9F48EF55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6209" y="250429"/>
            <a:ext cx="779301" cy="7793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5B647DC-312A-7EA3-05F7-A952A07E1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"/>
            <a:ext cx="779301" cy="77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263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54864"/>
            <a:ext cx="12192000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28647" y="6400800"/>
            <a:ext cx="43152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F37"/>
                </a:solidFill>
                <a:latin typeface="Segoe UI"/>
              </a:defRPr>
            </a:pPr>
            <a:r>
              <a:rPr lang="en-IN" dirty="0"/>
              <a:t>3 /</a:t>
            </a:r>
            <a:r>
              <a:rPr dirty="0"/>
              <a:t> </a:t>
            </a:r>
            <a:r>
              <a:rPr lang="en-IN" dirty="0"/>
              <a:t>6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40080" y="815934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u="sng" dirty="0"/>
              <a:t>End-to-End AI Spatial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011680"/>
            <a:ext cx="2514600" cy="416052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2194560"/>
            <a:ext cx="2185416" cy="3672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5A96EB"/>
                </a:solidFill>
                <a:latin typeface="Segoe UI"/>
              </a:defRPr>
            </a:pPr>
            <a:r>
              <a:rPr sz="1200" dirty="0"/>
              <a:t>STAGE 01</a:t>
            </a:r>
            <a:r>
              <a:rPr lang="en-IN" sz="1200" dirty="0"/>
              <a:t> - </a:t>
            </a:r>
            <a:r>
              <a:rPr sz="1200" u="sng" dirty="0"/>
              <a:t>Input &amp; Guardrails</a:t>
            </a:r>
            <a:br>
              <a:rPr lang="en-IN" sz="1200" dirty="0"/>
            </a:br>
            <a:endParaRPr sz="120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200" b="1" dirty="0">
                <a:solidFill>
                  <a:srgbClr val="FFFFFF"/>
                </a:solidFill>
                <a:latin typeface="Segoe UI"/>
              </a:rPr>
              <a:t>Regex &amp; NLP Parser: </a:t>
            </a:r>
            <a:r>
              <a:rPr sz="1200" dirty="0">
                <a:solidFill>
                  <a:srgbClr val="DCE2EC"/>
                </a:solidFill>
                <a:latin typeface="Segoe UI"/>
              </a:rPr>
              <a:t>Extracts dimensions (12x9 ft), room category (Spa, Powder), and budget caps.</a:t>
            </a:r>
            <a:br>
              <a:rPr lang="en-IN" sz="1200" dirty="0">
                <a:solidFill>
                  <a:srgbClr val="DCE2EC"/>
                </a:solidFill>
                <a:latin typeface="Segoe UI"/>
              </a:rPr>
            </a:br>
            <a:endParaRPr sz="1200" dirty="0">
              <a:solidFill>
                <a:srgbClr val="DCE2EC"/>
              </a:solidFill>
              <a:latin typeface="Segoe UI"/>
            </a:endParaRP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200" b="1" dirty="0">
                <a:solidFill>
                  <a:srgbClr val="FFFFFF"/>
                </a:solidFill>
                <a:latin typeface="Segoe UI"/>
              </a:rPr>
              <a:t>Dynamic Badging: </a:t>
            </a:r>
            <a:r>
              <a:rPr sz="1200" dirty="0">
                <a:solidFill>
                  <a:srgbClr val="DCE2EC"/>
                </a:solidFill>
                <a:latin typeface="Segoe UI"/>
              </a:rPr>
              <a:t>Visual feedback chips confirm extracted constraints before prompt execution.</a:t>
            </a:r>
            <a:br>
              <a:rPr lang="en-IN" sz="1200" dirty="0">
                <a:solidFill>
                  <a:srgbClr val="DCE2EC"/>
                </a:solidFill>
                <a:latin typeface="Segoe UI"/>
              </a:rPr>
            </a:br>
            <a:endParaRPr sz="1200" dirty="0">
              <a:solidFill>
                <a:srgbClr val="DCE2EC"/>
              </a:solidFill>
              <a:latin typeface="Segoe UI"/>
            </a:endParaRP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200" b="1" dirty="0">
                <a:solidFill>
                  <a:srgbClr val="FFFFFF"/>
                </a:solidFill>
                <a:latin typeface="Segoe UI"/>
              </a:rPr>
              <a:t>Prompt Guard 22M: </a:t>
            </a:r>
            <a:r>
              <a:rPr sz="1200" dirty="0">
                <a:solidFill>
                  <a:srgbClr val="DCE2EC"/>
                </a:solidFill>
                <a:latin typeface="Segoe UI"/>
              </a:rPr>
              <a:t>Meta Llama security model sanitizes prompt injection and jailbreak attempts on </a:t>
            </a:r>
            <a:r>
              <a:rPr sz="1200" dirty="0" err="1">
                <a:solidFill>
                  <a:srgbClr val="DCE2EC"/>
                </a:solidFill>
                <a:latin typeface="Segoe UI"/>
              </a:rPr>
              <a:t>Groq</a:t>
            </a:r>
            <a:r>
              <a:rPr sz="1200" dirty="0">
                <a:solidFill>
                  <a:srgbClr val="DCE2EC"/>
                </a:solidFill>
                <a:latin typeface="Segoe UI"/>
              </a:rPr>
              <a:t> Cloud.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011680"/>
            <a:ext cx="2514600" cy="416052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39312" y="2194560"/>
            <a:ext cx="2185416" cy="348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rPr sz="1200" dirty="0"/>
              <a:t>STAGE 02</a:t>
            </a:r>
            <a:r>
              <a:rPr lang="en-IN" sz="1200" dirty="0"/>
              <a:t> - </a:t>
            </a:r>
            <a:r>
              <a:rPr sz="1200" u="sng" dirty="0"/>
              <a:t>Spatial Reasoning</a:t>
            </a:r>
            <a:br>
              <a:rPr lang="en-IN" sz="1200" dirty="0"/>
            </a:br>
            <a:endParaRPr sz="120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200" b="1" dirty="0" err="1">
                <a:solidFill>
                  <a:srgbClr val="FFFFFF"/>
                </a:solidFill>
                <a:latin typeface="Segoe UI"/>
              </a:rPr>
              <a:t>Groq</a:t>
            </a:r>
            <a:r>
              <a:rPr sz="1200" b="1" dirty="0">
                <a:solidFill>
                  <a:srgbClr val="FFFFFF"/>
                </a:solidFill>
                <a:latin typeface="Segoe UI"/>
              </a:rPr>
              <a:t> Cloud LLM: </a:t>
            </a:r>
            <a:r>
              <a:rPr sz="1200" dirty="0">
                <a:solidFill>
                  <a:srgbClr val="DCE2EC"/>
                </a:solidFill>
                <a:latin typeface="Segoe UI"/>
              </a:rPr>
              <a:t>Powered by Llama 3.3 70B Versatile for high-speed contextual fixture selection.</a:t>
            </a:r>
            <a:br>
              <a:rPr lang="en-IN" sz="1200" dirty="0">
                <a:solidFill>
                  <a:srgbClr val="DCE2EC"/>
                </a:solidFill>
                <a:latin typeface="Segoe UI"/>
              </a:rPr>
            </a:br>
            <a:endParaRPr sz="1200" dirty="0">
              <a:solidFill>
                <a:srgbClr val="DCE2EC"/>
              </a:solidFill>
              <a:latin typeface="Segoe UI"/>
            </a:endParaRP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200" b="1" dirty="0">
                <a:solidFill>
                  <a:srgbClr val="FFFFFF"/>
                </a:solidFill>
                <a:latin typeface="Segoe UI"/>
              </a:rPr>
              <a:t>Fixture Constraints: </a:t>
            </a:r>
            <a:r>
              <a:rPr sz="1200" dirty="0">
                <a:solidFill>
                  <a:srgbClr val="DCE2EC"/>
                </a:solidFill>
                <a:latin typeface="Segoe UI"/>
              </a:rPr>
              <a:t>Enforces single-faucet rules for integrated vanities vs vessel basins.</a:t>
            </a:r>
            <a:br>
              <a:rPr lang="en-IN" sz="1200" dirty="0">
                <a:solidFill>
                  <a:srgbClr val="DCE2EC"/>
                </a:solidFill>
                <a:latin typeface="Segoe UI"/>
              </a:rPr>
            </a:br>
            <a:endParaRPr sz="1200" dirty="0">
              <a:solidFill>
                <a:srgbClr val="DCE2EC"/>
              </a:solidFill>
              <a:latin typeface="Segoe UI"/>
            </a:endParaRP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200" b="1" dirty="0">
                <a:solidFill>
                  <a:srgbClr val="FFFFFF"/>
                </a:solidFill>
                <a:latin typeface="Segoe UI"/>
              </a:rPr>
              <a:t>Deterministic Fallback: </a:t>
            </a:r>
            <a:r>
              <a:rPr sz="1200" dirty="0">
                <a:solidFill>
                  <a:srgbClr val="DCE2EC"/>
                </a:solidFill>
                <a:latin typeface="Segoe UI"/>
              </a:rPr>
              <a:t>Offline Python/JS multi-objective engine ensures 100% uptime if offline.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011680"/>
            <a:ext cx="2514600" cy="416052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2194560"/>
            <a:ext cx="2185416" cy="3557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40C08A"/>
                </a:solidFill>
                <a:latin typeface="Segoe UI"/>
              </a:defRPr>
            </a:pPr>
            <a:r>
              <a:rPr sz="1200" dirty="0"/>
              <a:t>STAGE 03</a:t>
            </a:r>
            <a:r>
              <a:rPr lang="en-IN" sz="1200" dirty="0"/>
              <a:t> - </a:t>
            </a:r>
            <a:r>
              <a:rPr sz="1200" u="sng" dirty="0"/>
              <a:t>Pareto Optimization</a:t>
            </a:r>
            <a:br>
              <a:rPr lang="en-IN" sz="1200" dirty="0"/>
            </a:br>
            <a:endParaRPr sz="120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150" b="1" dirty="0">
                <a:solidFill>
                  <a:srgbClr val="FFFFFF"/>
                </a:solidFill>
                <a:latin typeface="Segoe UI"/>
              </a:rPr>
              <a:t>Composite Formula: </a:t>
            </a:r>
            <a:r>
              <a:rPr sz="1150" dirty="0">
                <a:solidFill>
                  <a:srgbClr val="DCE2EC"/>
                </a:solidFill>
                <a:latin typeface="Segoe UI"/>
              </a:rPr>
              <a:t>Fitness = 0.25*Spatial + 0.20*Budget + 0.20*Theme + 0.15*</a:t>
            </a:r>
            <a:r>
              <a:rPr sz="1150" dirty="0" err="1">
                <a:solidFill>
                  <a:srgbClr val="DCE2EC"/>
                </a:solidFill>
                <a:latin typeface="Segoe UI"/>
              </a:rPr>
              <a:t>Func</a:t>
            </a:r>
            <a:r>
              <a:rPr sz="1150" dirty="0">
                <a:solidFill>
                  <a:srgbClr val="DCE2EC"/>
                </a:solidFill>
                <a:latin typeface="Segoe UI"/>
              </a:rPr>
              <a:t> + 0.10*Eco + 0.10*</a:t>
            </a:r>
            <a:r>
              <a:rPr sz="1150" dirty="0" err="1">
                <a:solidFill>
                  <a:srgbClr val="DCE2EC"/>
                </a:solidFill>
                <a:latin typeface="Segoe UI"/>
              </a:rPr>
              <a:t>WetWall</a:t>
            </a:r>
            <a:r>
              <a:rPr sz="1150" dirty="0">
                <a:solidFill>
                  <a:srgbClr val="DCE2EC"/>
                </a:solidFill>
                <a:latin typeface="Segoe UI"/>
              </a:rPr>
              <a:t>.</a:t>
            </a:r>
            <a:br>
              <a:rPr lang="en-IN" sz="1150" dirty="0">
                <a:solidFill>
                  <a:srgbClr val="DCE2EC"/>
                </a:solidFill>
                <a:latin typeface="Segoe UI"/>
              </a:rPr>
            </a:br>
            <a:endParaRPr sz="1150" dirty="0">
              <a:solidFill>
                <a:srgbClr val="DCE2EC"/>
              </a:solidFill>
              <a:latin typeface="Segoe UI"/>
            </a:endParaRP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150" b="1" dirty="0">
                <a:solidFill>
                  <a:srgbClr val="FFFFFF"/>
                </a:solidFill>
                <a:latin typeface="Segoe UI"/>
              </a:rPr>
              <a:t>Clearance Checks: </a:t>
            </a:r>
            <a:r>
              <a:rPr sz="1150" dirty="0">
                <a:solidFill>
                  <a:srgbClr val="DCE2EC"/>
                </a:solidFill>
                <a:latin typeface="Segoe UI"/>
              </a:rPr>
              <a:t>21" toilet front, 24" shower entry, 15" centerline clearances strictly evaluated.</a:t>
            </a:r>
            <a:br>
              <a:rPr lang="en-IN" sz="1150" dirty="0">
                <a:solidFill>
                  <a:srgbClr val="DCE2EC"/>
                </a:solidFill>
                <a:latin typeface="Segoe UI"/>
              </a:rPr>
            </a:br>
            <a:endParaRPr sz="1150" dirty="0">
              <a:solidFill>
                <a:srgbClr val="DCE2EC"/>
              </a:solidFill>
              <a:latin typeface="Segoe UI"/>
            </a:endParaRP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150" b="1" dirty="0">
                <a:solidFill>
                  <a:srgbClr val="FFFFFF"/>
                </a:solidFill>
                <a:latin typeface="Segoe UI"/>
              </a:rPr>
              <a:t>Wet-Wall Alignment: </a:t>
            </a:r>
            <a:r>
              <a:rPr sz="1150" dirty="0">
                <a:solidFill>
                  <a:srgbClr val="DCE2EC"/>
                </a:solidFill>
                <a:latin typeface="Segoe UI"/>
              </a:rPr>
              <a:t>Optimizes fixture placement along primary plumbing stack (up to 94%).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011680"/>
            <a:ext cx="2514600" cy="416052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25712" y="2194560"/>
            <a:ext cx="2185416" cy="373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B48CF0"/>
                </a:solidFill>
                <a:latin typeface="Segoe UI"/>
              </a:defRPr>
            </a:pPr>
            <a:r>
              <a:rPr sz="1200" dirty="0"/>
              <a:t>STAGE 04</a:t>
            </a:r>
            <a:r>
              <a:rPr lang="en-IN" sz="1200" dirty="0"/>
              <a:t> - </a:t>
            </a:r>
            <a:r>
              <a:rPr sz="1200" dirty="0"/>
              <a:t>3</a:t>
            </a:r>
            <a:r>
              <a:rPr sz="1200" u="sng" dirty="0"/>
              <a:t>D WebGL &amp; XAI</a:t>
            </a:r>
            <a:br>
              <a:rPr lang="en-IN" sz="1200" dirty="0"/>
            </a:br>
            <a:endParaRPr sz="1200" dirty="0"/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150" b="1" dirty="0">
                <a:solidFill>
                  <a:srgbClr val="FFFFFF"/>
                </a:solidFill>
                <a:latin typeface="Segoe UI"/>
              </a:rPr>
              <a:t>Three.js r128 Engine: </a:t>
            </a:r>
            <a:r>
              <a:rPr sz="1150" dirty="0">
                <a:solidFill>
                  <a:srgbClr val="DCE2EC"/>
                </a:solidFill>
                <a:latin typeface="Segoe UI"/>
              </a:rPr>
              <a:t>Real-time client rendering with soft shadows, 3 perspectives (3D, 2D, Walk-in).</a:t>
            </a:r>
            <a:br>
              <a:rPr lang="en-IN" sz="1150" dirty="0">
                <a:solidFill>
                  <a:srgbClr val="DCE2EC"/>
                </a:solidFill>
                <a:latin typeface="Segoe UI"/>
              </a:rPr>
            </a:br>
            <a:endParaRPr sz="1150" dirty="0">
              <a:solidFill>
                <a:srgbClr val="DCE2EC"/>
              </a:solidFill>
              <a:latin typeface="Segoe UI"/>
            </a:endParaRP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150" b="1" dirty="0">
                <a:solidFill>
                  <a:srgbClr val="FFFFFF"/>
                </a:solidFill>
                <a:latin typeface="Segoe UI"/>
              </a:rPr>
              <a:t>Dynamic Rebuilding: </a:t>
            </a:r>
            <a:r>
              <a:rPr sz="1150" dirty="0">
                <a:solidFill>
                  <a:srgbClr val="DCE2EC"/>
                </a:solidFill>
                <a:latin typeface="Segoe UI"/>
              </a:rPr>
              <a:t>Instant parametric remodeling of walls, trim, floor tiles, and entrance door.</a:t>
            </a:r>
            <a:br>
              <a:rPr lang="en-IN" sz="1150" dirty="0">
                <a:solidFill>
                  <a:srgbClr val="DCE2EC"/>
                </a:solidFill>
                <a:latin typeface="Segoe UI"/>
              </a:rPr>
            </a:br>
            <a:endParaRPr sz="1150" dirty="0">
              <a:solidFill>
                <a:srgbClr val="DCE2EC"/>
              </a:solidFill>
              <a:latin typeface="Segoe UI"/>
            </a:endParaRPr>
          </a:p>
          <a:p>
            <a:pPr marL="17145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150" b="1" dirty="0">
                <a:solidFill>
                  <a:srgbClr val="FFFFFF"/>
                </a:solidFill>
                <a:latin typeface="Segoe UI"/>
              </a:rPr>
              <a:t>Explainable AI (XAI): </a:t>
            </a:r>
            <a:r>
              <a:rPr sz="1150" dirty="0">
                <a:solidFill>
                  <a:srgbClr val="DCE2EC"/>
                </a:solidFill>
                <a:latin typeface="Segoe UI"/>
              </a:rPr>
              <a:t>Transparent decision cards display clearance margin, budget %, and rough-in specs.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B29CBFC-D72B-93CD-21AB-53BB812DB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"/>
            <a:ext cx="779301" cy="77930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8F2E88D-974C-B6A4-C7CD-E860E4D6A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6209" y="250429"/>
            <a:ext cx="779301" cy="77930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6747826-74C3-D618-8BF0-9852DBF3A305}"/>
              </a:ext>
            </a:extLst>
          </p:cNvPr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8B6"/>
                </a:solidFill>
                <a:latin typeface="Segoe UI"/>
              </a:defRPr>
            </a:pPr>
            <a:r>
              <a:rPr dirty="0"/>
              <a:t>KOHLER-MITWPU AI Research Lab Program  |  Track 1: KOHLER AI Bathroom Designer &amp; Planner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8B6"/>
                </a:solidFill>
                <a:latin typeface="Segoe UI"/>
              </a:defRPr>
            </a:pPr>
            <a:r>
              <a:rPr dirty="0"/>
              <a:t>KOHLER-MITWPU AI Research Lab Program  |  Track 1: KOHLER AI Bathroom Designer &amp;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8647" y="6400800"/>
            <a:ext cx="43152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F37"/>
                </a:solidFill>
                <a:latin typeface="Segoe UI"/>
              </a:defRPr>
            </a:pPr>
            <a:r>
              <a:rPr lang="en-IN" dirty="0"/>
              <a:t>4 </a:t>
            </a:r>
            <a:r>
              <a:rPr dirty="0"/>
              <a:t>/ </a:t>
            </a:r>
            <a:r>
              <a:rPr lang="en-IN" dirty="0"/>
              <a:t>6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46607" y="999256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en-IN" u="sng" dirty="0"/>
              <a:t>Technical Execution &amp; </a:t>
            </a:r>
            <a:r>
              <a:rPr lang="en-IN" u="sng" dirty="0" err="1"/>
              <a:t>Catalog</a:t>
            </a:r>
            <a:endParaRPr lang="en-IN" u="sng" dirty="0"/>
          </a:p>
        </p:txBody>
      </p:sp>
      <p:sp>
        <p:nvSpPr>
          <p:cNvPr id="11" name="Rounded Rectangle 10"/>
          <p:cNvSpPr/>
          <p:nvPr/>
        </p:nvSpPr>
        <p:spPr>
          <a:xfrm>
            <a:off x="731520" y="2011680"/>
            <a:ext cx="5212080" cy="201168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148840"/>
            <a:ext cx="4846320" cy="1856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5A96EB"/>
                </a:solidFill>
                <a:latin typeface="Segoe UI"/>
              </a:defRPr>
            </a:pPr>
            <a:r>
              <a:rPr sz="1200" dirty="0"/>
              <a:t>3D GRAPHICS &amp; CLIENT RUNTIME</a:t>
            </a:r>
            <a:r>
              <a:rPr lang="en-IN" sz="1200" dirty="0"/>
              <a:t> - </a:t>
            </a:r>
            <a:r>
              <a:rPr sz="1200" u="sng" dirty="0"/>
              <a:t>Three.js WebGL &amp; Modular Architecture</a:t>
            </a:r>
            <a:br>
              <a:rPr lang="en-IN" sz="1200" u="sng" dirty="0"/>
            </a:br>
            <a:endParaRPr sz="1200" u="sng" dirty="0"/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sz="1200" b="1" dirty="0">
                <a:solidFill>
                  <a:srgbClr val="DCE2EC"/>
                </a:solidFill>
                <a:latin typeface="Segoe UI"/>
              </a:rPr>
              <a:t>15 Isolated ES6+ Modules: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 High maintainability with zero global namespace pollution.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sz="1200" b="1" dirty="0">
                <a:solidFill>
                  <a:srgbClr val="DCE2EC"/>
                </a:solidFill>
                <a:latin typeface="Segoe UI"/>
              </a:rPr>
              <a:t>Procedural PBR Materials: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 </a:t>
            </a:r>
            <a:r>
              <a:rPr sz="1200" dirty="0" err="1">
                <a:solidFill>
                  <a:srgbClr val="A0A8B6"/>
                </a:solidFill>
                <a:latin typeface="Segoe UI"/>
              </a:rPr>
              <a:t>Calacatta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 marble, </a:t>
            </a:r>
            <a:r>
              <a:rPr sz="1200" dirty="0" err="1">
                <a:solidFill>
                  <a:srgbClr val="A0A8B6"/>
                </a:solidFill>
                <a:latin typeface="Segoe UI"/>
              </a:rPr>
              <a:t>Marquina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 stone, Welsh slate, Carrara, Teak.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sz="1200" b="1" dirty="0">
                <a:solidFill>
                  <a:srgbClr val="DCE2EC"/>
                </a:solidFill>
                <a:latin typeface="Segoe UI"/>
              </a:rPr>
              <a:t>Circadian Lighting: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 Real-time CCT Kelvin simulation (Day 5000K, Dusk 2700K, Night).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5212080" cy="201168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4846320" cy="1672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D4AF37"/>
                </a:solidFill>
                <a:latin typeface="Segoe UI"/>
              </a:defRPr>
            </a:pPr>
            <a:r>
              <a:rPr sz="1200" dirty="0"/>
              <a:t>BACKEND &amp; CLOUD AI</a:t>
            </a:r>
            <a:r>
              <a:rPr lang="en-IN" sz="1200" dirty="0"/>
              <a:t> - </a:t>
            </a:r>
            <a:r>
              <a:rPr sz="1200" u="sng" dirty="0"/>
              <a:t>Node.js Server &amp; Python Microservice</a:t>
            </a:r>
            <a:br>
              <a:rPr lang="en-IN" sz="1200" dirty="0"/>
            </a:br>
            <a:endParaRPr sz="1200" dirty="0"/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sz="1200" b="1" dirty="0">
                <a:solidFill>
                  <a:srgbClr val="DCE2EC"/>
                </a:solidFill>
                <a:latin typeface="Segoe UI"/>
              </a:rPr>
              <a:t>Node.js HTTP Server: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 Dynamic component compilation (build.js) and secure </a:t>
            </a:r>
            <a:r>
              <a:rPr sz="1200" dirty="0" err="1">
                <a:solidFill>
                  <a:srgbClr val="A0A8B6"/>
                </a:solidFill>
                <a:latin typeface="Segoe UI"/>
              </a:rPr>
              <a:t>Groq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 proxy.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sz="1200" b="1" dirty="0">
                <a:solidFill>
                  <a:srgbClr val="DCE2EC"/>
                </a:solidFill>
                <a:latin typeface="Segoe UI"/>
              </a:rPr>
              <a:t>Python AI Engine (</a:t>
            </a:r>
            <a:r>
              <a:rPr sz="1200" b="1" dirty="0" err="1">
                <a:solidFill>
                  <a:srgbClr val="DCE2EC"/>
                </a:solidFill>
                <a:latin typeface="Segoe UI"/>
              </a:rPr>
              <a:t>ai_engine</a:t>
            </a:r>
            <a:r>
              <a:rPr sz="1200" b="1" dirty="0">
                <a:solidFill>
                  <a:srgbClr val="DCE2EC"/>
                </a:solidFill>
                <a:latin typeface="Segoe UI"/>
              </a:rPr>
              <a:t>/):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 Zero-dependency implementation (Standard Library only).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sz="1200" b="1" dirty="0">
                <a:solidFill>
                  <a:srgbClr val="DCE2EC"/>
                </a:solidFill>
                <a:latin typeface="Segoe UI"/>
              </a:rPr>
              <a:t>Edge Ready: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 Configured with </a:t>
            </a:r>
            <a:r>
              <a:rPr sz="1200" dirty="0" err="1">
                <a:solidFill>
                  <a:srgbClr val="A0A8B6"/>
                </a:solidFill>
                <a:latin typeface="Segoe UI"/>
              </a:rPr>
              <a:t>vercel.json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 for global edge deployment with offline fallbacks.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5212080" cy="201168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343400"/>
            <a:ext cx="4846320" cy="1844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40C08A"/>
                </a:solidFill>
                <a:latin typeface="Segoe UI"/>
              </a:defRPr>
            </a:pPr>
            <a:r>
              <a:rPr sz="1200" dirty="0"/>
              <a:t>AUTHENTIC CATALOG DATABASE</a:t>
            </a:r>
            <a:r>
              <a:rPr lang="en-IN" sz="1200" dirty="0"/>
              <a:t> - </a:t>
            </a:r>
            <a:r>
              <a:rPr sz="1200" u="sng" dirty="0"/>
              <a:t>16 Genuine Kohler Production Fixtures</a:t>
            </a:r>
            <a:br>
              <a:rPr lang="en-IN" sz="1200" dirty="0"/>
            </a:br>
            <a:endParaRPr lang="en-IN" sz="1200" dirty="0"/>
          </a:p>
          <a:p>
            <a:pPr marL="171450" indent="-171450">
              <a:spcAft>
                <a:spcPts val="200"/>
              </a:spcAft>
              <a:buFont typeface="Wingdings" panose="05000000000000000000" pitchFamily="2" charset="2"/>
              <a:buChar char="q"/>
              <a:defRPr sz="850" b="1">
                <a:solidFill>
                  <a:srgbClr val="40C08A"/>
                </a:solidFill>
                <a:latin typeface="Segoe UI"/>
              </a:defRPr>
            </a:pPr>
            <a:r>
              <a:rPr sz="1200" b="1" dirty="0">
                <a:solidFill>
                  <a:srgbClr val="DCE2EC"/>
                </a:solidFill>
                <a:latin typeface="Segoe UI"/>
              </a:rPr>
              <a:t> Smart &amp; 1-Piece Toilets: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 Veil™ (K-5401IN), Reach™ (K-3983IN-S), Ove™ (K-17688IN).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sz="1200" b="1" dirty="0">
                <a:solidFill>
                  <a:srgbClr val="DCE2EC"/>
                </a:solidFill>
                <a:latin typeface="Segoe UI"/>
              </a:rPr>
              <a:t>Integrated Vanities &amp; Basins: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 Trace™ (K-30375IN), </a:t>
            </a:r>
            <a:r>
              <a:rPr sz="1200" dirty="0" err="1">
                <a:solidFill>
                  <a:srgbClr val="A0A8B6"/>
                </a:solidFill>
                <a:latin typeface="Segoe UI"/>
              </a:rPr>
              <a:t>Vive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™ (K-28782IN), </a:t>
            </a:r>
            <a:r>
              <a:rPr sz="1200" dirty="0" err="1">
                <a:solidFill>
                  <a:srgbClr val="A0A8B6"/>
                </a:solidFill>
                <a:latin typeface="Segoe UI"/>
              </a:rPr>
              <a:t>Brazn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™ &amp; Forefront™.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sz="1200" b="1" dirty="0">
                <a:solidFill>
                  <a:srgbClr val="DCE2EC"/>
                </a:solidFill>
                <a:latin typeface="Segoe UI"/>
              </a:rPr>
              <a:t>Showers &amp; Fittings: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 Statement™ </a:t>
            </a:r>
            <a:r>
              <a:rPr sz="1200" dirty="0" err="1">
                <a:solidFill>
                  <a:srgbClr val="A0A8B6"/>
                </a:solidFill>
                <a:latin typeface="Segoe UI"/>
              </a:rPr>
              <a:t>Katalyst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, </a:t>
            </a:r>
            <a:r>
              <a:rPr sz="1200" dirty="0" err="1">
                <a:solidFill>
                  <a:srgbClr val="A0A8B6"/>
                </a:solidFill>
                <a:latin typeface="Segoe UI"/>
              </a:rPr>
              <a:t>Evok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 2.0™ bath, New Trilogy™, Purist™ &amp; Parallel™.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206240"/>
            <a:ext cx="5212080" cy="201168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4343400"/>
            <a:ext cx="4846320" cy="1856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F0A050"/>
                </a:solidFill>
                <a:latin typeface="Segoe UI"/>
              </a:defRPr>
            </a:pPr>
            <a:r>
              <a:rPr sz="1200" dirty="0"/>
              <a:t>PRECISION &amp; VERIFICATION</a:t>
            </a:r>
            <a:r>
              <a:rPr lang="en-IN" sz="1200" dirty="0"/>
              <a:t> - </a:t>
            </a:r>
            <a:r>
              <a:rPr sz="1200" u="sng" dirty="0"/>
              <a:t>Zero Pricing Discrepancy &amp; Automated QA</a:t>
            </a:r>
            <a:br>
              <a:rPr lang="en-IN" sz="1200" dirty="0"/>
            </a:br>
            <a:endParaRPr sz="1200" dirty="0"/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sz="1200" b="1" dirty="0">
                <a:solidFill>
                  <a:srgbClr val="DCE2EC"/>
                </a:solidFill>
                <a:latin typeface="Segoe UI"/>
              </a:rPr>
              <a:t>Single Source of Truth: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 $0 discrepancy between live 3D investment counter and quote BOM.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sz="1200" b="1" dirty="0">
                <a:solidFill>
                  <a:srgbClr val="DCE2EC"/>
                </a:solidFill>
                <a:latin typeface="Segoe UI"/>
              </a:rPr>
              <a:t>Modular Verification: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 Automated test_modular.js verifies all 12 components &amp; 15 modules.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sz="1200" b="1" dirty="0">
                <a:solidFill>
                  <a:srgbClr val="DCE2EC"/>
                </a:solidFill>
                <a:latin typeface="Segoe UI"/>
              </a:rPr>
              <a:t>Python Test Suite:</a:t>
            </a:r>
            <a:r>
              <a:rPr sz="1200" dirty="0">
                <a:solidFill>
                  <a:srgbClr val="A0A8B6"/>
                </a:solidFill>
                <a:latin typeface="Segoe UI"/>
              </a:rPr>
              <a:t> 9 unit tests checking NLP, clearance, and Pareto math in &lt;5ms.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5DE3E99-AAFA-07B4-2D53-889D4DA2F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"/>
            <a:ext cx="779301" cy="77930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17140F8-F894-37F1-AD6A-215CF7153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6209" y="250429"/>
            <a:ext cx="779301" cy="7793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8B6"/>
                </a:solidFill>
                <a:latin typeface="Segoe UI"/>
              </a:defRPr>
            </a:pPr>
            <a:r>
              <a:t>KOHLER-MITWPU AI Research Lab Program  |  Track 1: KOHLER AI Bathroom Designer &amp;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8646" y="6400800"/>
            <a:ext cx="43152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F37"/>
                </a:solidFill>
                <a:latin typeface="Segoe UI"/>
              </a:defRPr>
            </a:pPr>
            <a:r>
              <a:rPr lang="en-IN" dirty="0"/>
              <a:t>5</a:t>
            </a:r>
            <a:r>
              <a:rPr dirty="0"/>
              <a:t> /</a:t>
            </a:r>
            <a:r>
              <a:rPr lang="en-IN" dirty="0"/>
              <a:t> 6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31520" y="868680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Commercial Value &amp; Sustainability Impact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011680"/>
            <a:ext cx="3383280" cy="352801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3017520" cy="3206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5A96EB"/>
                </a:solidFill>
                <a:latin typeface="Segoe UI"/>
              </a:defRPr>
            </a:pPr>
            <a:r>
              <a:rPr sz="1300" dirty="0"/>
              <a:t>MEP PLUMBING OPTIMIZATION</a:t>
            </a:r>
            <a:r>
              <a:rPr lang="en-IN" sz="1300" dirty="0"/>
              <a:t> - </a:t>
            </a:r>
            <a:r>
              <a:rPr sz="1300" u="sng" dirty="0"/>
              <a:t>Wet-Wall Alignment Engine</a:t>
            </a:r>
            <a:br>
              <a:rPr lang="en-IN" sz="1300" dirty="0"/>
            </a:br>
            <a:endParaRPr sz="13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1250" b="1" dirty="0">
                <a:solidFill>
                  <a:srgbClr val="FFFFFF"/>
                </a:solidFill>
                <a:latin typeface="Segoe UI"/>
              </a:rPr>
              <a:t>Stack Efficiency: </a:t>
            </a:r>
            <a:r>
              <a:rPr sz="1250" dirty="0">
                <a:solidFill>
                  <a:srgbClr val="DCE2EC"/>
                </a:solidFill>
                <a:latin typeface="Segoe UI"/>
              </a:rPr>
              <a:t>Evaluates alignment of water supply &amp; waste lines along primary wet-wall stack (up to 94%).</a:t>
            </a:r>
            <a:br>
              <a:rPr lang="en-IN" sz="1250" dirty="0">
                <a:solidFill>
                  <a:srgbClr val="DCE2EC"/>
                </a:solidFill>
                <a:latin typeface="Segoe UI"/>
              </a:rPr>
            </a:br>
            <a:endParaRPr sz="1250" dirty="0">
              <a:solidFill>
                <a:srgbClr val="DCE2EC"/>
              </a:solidFill>
              <a:latin typeface="Segoe UI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1250" b="1" dirty="0">
                <a:solidFill>
                  <a:srgbClr val="FFFFFF"/>
                </a:solidFill>
                <a:latin typeface="Segoe UI"/>
              </a:rPr>
              <a:t>Cost Reduction: </a:t>
            </a:r>
            <a:r>
              <a:rPr sz="1250" dirty="0">
                <a:solidFill>
                  <a:srgbClr val="DCE2EC"/>
                </a:solidFill>
                <a:latin typeface="Segoe UI"/>
              </a:rPr>
              <a:t>Reduces horizontal pipe trenching, core-drilling, and plumbing labor costs by up to 25%.</a:t>
            </a:r>
            <a:br>
              <a:rPr lang="en-IN" sz="1250" dirty="0">
                <a:solidFill>
                  <a:srgbClr val="DCE2EC"/>
                </a:solidFill>
                <a:latin typeface="Segoe UI"/>
              </a:rPr>
            </a:br>
            <a:endParaRPr sz="1250" dirty="0">
              <a:solidFill>
                <a:srgbClr val="DCE2EC"/>
              </a:solidFill>
              <a:latin typeface="Segoe UI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1250" b="1" dirty="0">
                <a:solidFill>
                  <a:srgbClr val="FFFFFF"/>
                </a:solidFill>
                <a:latin typeface="Segoe UI"/>
              </a:rPr>
              <a:t>Trade Friendly: </a:t>
            </a:r>
            <a:r>
              <a:rPr sz="1250" dirty="0">
                <a:solidFill>
                  <a:srgbClr val="DCE2EC"/>
                </a:solidFill>
                <a:latin typeface="Segoe UI"/>
              </a:rPr>
              <a:t>Generates instant rough-in layout guidelines for MEP contractors and installers.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011680"/>
            <a:ext cx="3383280" cy="352801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3017520" cy="3375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40C08A"/>
                </a:solidFill>
                <a:latin typeface="Segoe UI"/>
              </a:defRPr>
            </a:pPr>
            <a:r>
              <a:rPr sz="1250" dirty="0"/>
              <a:t>ENVIRONMENTAL STEWARDSHIP</a:t>
            </a:r>
            <a:r>
              <a:rPr lang="en-IN" sz="1250" dirty="0"/>
              <a:t> - </a:t>
            </a:r>
            <a:r>
              <a:rPr sz="1250" u="sng" dirty="0" err="1"/>
              <a:t>WaterSense</a:t>
            </a:r>
            <a:r>
              <a:rPr sz="1250" u="sng" dirty="0"/>
              <a:t>® &amp; Carbon Offset</a:t>
            </a:r>
            <a:br>
              <a:rPr lang="en-IN" sz="1250" dirty="0"/>
            </a:br>
            <a:endParaRPr sz="125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1200" b="1" dirty="0" err="1">
                <a:solidFill>
                  <a:srgbClr val="FFFFFF"/>
                </a:solidFill>
                <a:latin typeface="Segoe UI"/>
              </a:rPr>
              <a:t>Katalyst</a:t>
            </a:r>
            <a:r>
              <a:rPr sz="1200" b="1" dirty="0">
                <a:solidFill>
                  <a:srgbClr val="FFFFFF"/>
                </a:solidFill>
                <a:latin typeface="Segoe UI"/>
              </a:rPr>
              <a:t>® Physics: </a:t>
            </a:r>
            <a:r>
              <a:rPr sz="1200" dirty="0">
                <a:solidFill>
                  <a:srgbClr val="DCE2EC"/>
                </a:solidFill>
                <a:latin typeface="Segoe UI"/>
              </a:rPr>
              <a:t>Models 2.2M air bubbles/minute air-induction spray physics for luxury flow at reduced volume.</a:t>
            </a:r>
            <a:br>
              <a:rPr lang="en-IN" sz="1200" dirty="0">
                <a:solidFill>
                  <a:srgbClr val="DCE2EC"/>
                </a:solidFill>
                <a:latin typeface="Segoe UI"/>
              </a:rPr>
            </a:br>
            <a:endParaRPr sz="1200" dirty="0">
              <a:solidFill>
                <a:srgbClr val="DCE2EC"/>
              </a:solidFill>
              <a:latin typeface="Segoe UI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1200" b="1" dirty="0">
                <a:solidFill>
                  <a:srgbClr val="FFFFFF"/>
                </a:solidFill>
                <a:latin typeface="Segoe UI"/>
              </a:rPr>
              <a:t>Water Conservation: </a:t>
            </a:r>
            <a:r>
              <a:rPr sz="1200" dirty="0">
                <a:solidFill>
                  <a:srgbClr val="DCE2EC"/>
                </a:solidFill>
                <a:latin typeface="Segoe UI"/>
              </a:rPr>
              <a:t>Calculates annual liters saved based on EPA </a:t>
            </a:r>
            <a:r>
              <a:rPr sz="1200" dirty="0" err="1">
                <a:solidFill>
                  <a:srgbClr val="DCE2EC"/>
                </a:solidFill>
                <a:latin typeface="Segoe UI"/>
              </a:rPr>
              <a:t>WaterSense</a:t>
            </a:r>
            <a:r>
              <a:rPr sz="1200" dirty="0">
                <a:solidFill>
                  <a:srgbClr val="DCE2EC"/>
                </a:solidFill>
                <a:latin typeface="Segoe UI"/>
              </a:rPr>
              <a:t>® 4.8 LPF dual flush &amp; 1.2 GPM aerators.</a:t>
            </a:r>
            <a:br>
              <a:rPr lang="en-IN" sz="1200" dirty="0">
                <a:solidFill>
                  <a:srgbClr val="DCE2EC"/>
                </a:solidFill>
                <a:latin typeface="Segoe UI"/>
              </a:rPr>
            </a:br>
            <a:endParaRPr sz="1200" dirty="0">
              <a:solidFill>
                <a:srgbClr val="DCE2EC"/>
              </a:solidFill>
              <a:latin typeface="Segoe UI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1200" b="1" dirty="0">
                <a:solidFill>
                  <a:srgbClr val="FFFFFF"/>
                </a:solidFill>
                <a:latin typeface="Segoe UI"/>
              </a:rPr>
              <a:t>Carbon Tracking: </a:t>
            </a:r>
            <a:r>
              <a:rPr sz="1200" dirty="0">
                <a:solidFill>
                  <a:srgbClr val="DCE2EC"/>
                </a:solidFill>
                <a:latin typeface="Segoe UI"/>
              </a:rPr>
              <a:t>Live calculation of equivalent carbon offset footprint (kg CO2e) inside quote BOM.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3383280" cy="3528010"/>
          </a:xfrm>
          <a:prstGeom prst="roundRect">
            <a:avLst/>
          </a:prstGeom>
          <a:solidFill>
            <a:srgbClr val="181B22"/>
          </a:solidFill>
          <a:ln w="15240">
            <a:solidFill>
              <a:srgbClr val="2E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2194560"/>
            <a:ext cx="3017520" cy="266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rPr sz="1300" dirty="0"/>
              <a:t>B2B TRADE ACCELERATION</a:t>
            </a:r>
            <a:r>
              <a:rPr lang="en-IN" sz="1300" dirty="0"/>
              <a:t> - </a:t>
            </a:r>
            <a:r>
              <a:rPr sz="1300" u="sng" dirty="0"/>
              <a:t>Studio Kohler Specifier</a:t>
            </a:r>
            <a:br>
              <a:rPr lang="en-IN" sz="1300" dirty="0"/>
            </a:br>
            <a:endParaRPr sz="1300" dirty="0"/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1200" b="1" dirty="0">
                <a:solidFill>
                  <a:srgbClr val="FFFFFF"/>
                </a:solidFill>
                <a:latin typeface="Segoe UI"/>
              </a:rPr>
              <a:t>Multi-Currency BOM: </a:t>
            </a:r>
            <a:r>
              <a:rPr sz="1200" dirty="0">
                <a:solidFill>
                  <a:srgbClr val="DCE2EC"/>
                </a:solidFill>
                <a:latin typeface="Segoe UI"/>
              </a:rPr>
              <a:t>Instant conversion across INR (₹), USD ($), and CAD ($) with real-time exchange rates.</a:t>
            </a:r>
            <a:br>
              <a:rPr lang="en-IN" sz="1200" dirty="0">
                <a:solidFill>
                  <a:srgbClr val="DCE2EC"/>
                </a:solidFill>
                <a:latin typeface="Segoe UI"/>
              </a:rPr>
            </a:br>
            <a:endParaRPr sz="1200" dirty="0">
              <a:solidFill>
                <a:srgbClr val="DCE2EC"/>
              </a:solidFill>
              <a:latin typeface="Segoe UI"/>
            </a:endParaRP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sz="1200" b="1" dirty="0">
                <a:solidFill>
                  <a:srgbClr val="FFFFFF"/>
                </a:solidFill>
                <a:latin typeface="Segoe UI"/>
              </a:rPr>
              <a:t>MEP Data Sheets: </a:t>
            </a:r>
            <a:r>
              <a:rPr sz="1200" dirty="0">
                <a:solidFill>
                  <a:srgbClr val="DCE2EC"/>
                </a:solidFill>
                <a:latin typeface="Segoe UI"/>
              </a:rPr>
              <a:t>B2B specifier tables detailing 12" toilet rough-in, 1-1/4" P-traps, and 1/2" NPT supply valves.</a:t>
            </a:r>
            <a:br>
              <a:rPr lang="en-IN" sz="1200" dirty="0">
                <a:solidFill>
                  <a:srgbClr val="DCE2EC"/>
                </a:solidFill>
                <a:latin typeface="Segoe UI"/>
              </a:rPr>
            </a:br>
            <a:endParaRPr sz="1200" dirty="0">
              <a:solidFill>
                <a:srgbClr val="DCE2EC"/>
              </a:solidFill>
              <a:latin typeface="Segoe UI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601021C-46E2-E89D-31D7-A8A29C138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880"/>
            <a:ext cx="779301" cy="77930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6F8249D-1DDE-FBBF-1096-E41BAA29F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6209" y="250429"/>
            <a:ext cx="779301" cy="7793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2E3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8B6"/>
                </a:solidFill>
                <a:latin typeface="Segoe UI"/>
              </a:defRPr>
            </a:pPr>
            <a:r>
              <a:t>KOHLER-MITWPU AI Research Lab Program  |  Track 1: KOHLER AI Bathroom Designer &amp; Planner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8647" y="6400800"/>
            <a:ext cx="43152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D4AF37"/>
                </a:solidFill>
                <a:latin typeface="Segoe UI"/>
              </a:defRPr>
            </a:pPr>
            <a:r>
              <a:rPr lang="en-IN" dirty="0"/>
              <a:t>6</a:t>
            </a:r>
            <a:r>
              <a:rPr dirty="0"/>
              <a:t> / </a:t>
            </a:r>
            <a:r>
              <a:rPr lang="en-IN" dirty="0"/>
              <a:t>6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46607" y="2905780"/>
            <a:ext cx="10698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en-IN" sz="3200" i="1" dirty="0"/>
              <a:t>Thank you</a:t>
            </a:r>
            <a:endParaRPr sz="3200" i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6F668B8-0CEE-560A-1CBA-F084597E4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01" y="489204"/>
            <a:ext cx="1130880" cy="113088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66993B0-74F5-6760-908B-CCC123DED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9287" y="489204"/>
            <a:ext cx="1130880" cy="113088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F7E1A7A-060A-645F-B4EF-91EDD0B56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080" y="5087040"/>
            <a:ext cx="1130880" cy="113088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623FBF8-7278-45A1-F554-12F475CD88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9287" y="5087040"/>
            <a:ext cx="1130880" cy="11308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9EBBA9E-A38A-6201-C2A2-6C446B248739}"/>
              </a:ext>
            </a:extLst>
          </p:cNvPr>
          <p:cNvSpPr txBox="1"/>
          <p:nvPr/>
        </p:nvSpPr>
        <p:spPr>
          <a:xfrm>
            <a:off x="851710" y="3627715"/>
            <a:ext cx="10698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rPr lang="en-IN" sz="3200" i="1" dirty="0"/>
              <a:t>By Krish Bhensdadia</a:t>
            </a:r>
            <a:endParaRPr sz="3200" i="1" dirty="0"/>
          </a:p>
        </p:txBody>
      </p:sp>
    </p:spTree>
    <p:extLst>
      <p:ext uri="{BB962C8B-B14F-4D97-AF65-F5344CB8AC3E}">
        <p14:creationId xmlns:p14="http://schemas.microsoft.com/office/powerpoint/2010/main" val="394624435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164</TotalTime>
  <Words>986</Words>
  <Application>Microsoft Office PowerPoint</Application>
  <PresentationFormat>Widescreen</PresentationFormat>
  <Paragraphs>72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Segoe UI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keywords/>
  <dc:description>generated using python-pptx</dc:description>
  <cp:lastModifiedBy>Krish Bhensdadiya</cp:lastModifiedBy>
  <cp:revision>4</cp:revision>
  <dcterms:created xsi:type="dcterms:W3CDTF">2013-01-27T09:14:16Z</dcterms:created>
  <dcterms:modified xsi:type="dcterms:W3CDTF">2026-09-19T12:39:38Z</dcterms:modified>
  <cp:category/>
</cp:coreProperties>
</file>