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4AF37"/>
                </a:solidFill>
                <a:latin typeface="Segoe UI"/>
              </a:defRPr>
            </a:pPr>
            <a:r>
              <a:t>THE BOLD LOOK OF KOHLER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8B6"/>
                </a:solidFill>
                <a:latin typeface="Segoe UI"/>
              </a:defRPr>
            </a:pPr>
            <a:r>
              <a:t>KOHLER-MITWPU AI Research Lab Program  |  Track 1: KOHLER AI Bathroom Designer &amp;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0080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F37"/>
                </a:solidFill>
                <a:latin typeface="Segoe UI"/>
              </a:defRPr>
            </a:pPr>
            <a:r>
              <a:t>1 /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"/>
            <a:ext cx="3291840" cy="292608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4AF37"/>
                </a:solidFill>
                <a:latin typeface="Segoe UI"/>
              </a:defRPr>
            </a:pPr>
            <a:r>
              <a:t>EXECUTIVE SUMMARY &amp;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KOHLER AI Bathroom Designer &amp; Planner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8B6"/>
                </a:solidFill>
                <a:latin typeface="Segoe UI"/>
              </a:defRPr>
            </a:pPr>
            <a:r>
              <a:t>Next-Generation Spatial Intelligence &amp; Generative 3D CAD Space Planning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11680"/>
            <a:ext cx="3383280" cy="416052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E65F5F"/>
                </a:solidFill>
                <a:latin typeface="Segoe UI"/>
              </a:defRPr>
            </a:pPr>
            <a:r>
              <a:t>THE INDUSTRY PROBLEM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Showroom Consultation Latency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3–7 Day Cycles: </a:t>
            </a:r>
            <a:r>
              <a:rPr sz="950">
                <a:solidFill>
                  <a:srgbClr val="DCE2EC"/>
                </a:solidFill>
                <a:latin typeface="Segoe UI"/>
              </a:rPr>
              <a:t>Manual back-and-forth between homeowners, architects, and Kohler showroom sales reps.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Clearance Violations: </a:t>
            </a:r>
            <a:r>
              <a:rPr sz="950">
                <a:solidFill>
                  <a:srgbClr val="DCE2EC"/>
                </a:solidFill>
                <a:latin typeface="Segoe UI"/>
              </a:rPr>
              <a:t>Real-world installations frequently violate NKBA &amp; ADA physical building clearances.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MEP Disconnects: </a:t>
            </a:r>
            <a:r>
              <a:rPr sz="950">
                <a:solidFill>
                  <a:srgbClr val="DCE2EC"/>
                </a:solidFill>
                <a:latin typeface="Segoe UI"/>
              </a:rPr>
              <a:t>Neglecting wet-wall plumbing stacks causes excessive core-drilling and ballooning costs.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Pricing Inaccuracies: </a:t>
            </a:r>
            <a:r>
              <a:rPr sz="950">
                <a:solidFill>
                  <a:srgbClr val="DCE2EC"/>
                </a:solidFill>
                <a:latin typeface="Segoe UI"/>
              </a:rPr>
              <a:t>Discrepancies between 3D conceptual renderings and actual itemized B2B quotes.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011680"/>
            <a:ext cx="3383280" cy="416052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OUR CORE APPROACH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Dual-Pathway Spatial AI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Predefined Constraints: </a:t>
            </a:r>
            <a:r>
              <a:rPr sz="950">
                <a:solidFill>
                  <a:srgbClr val="DCE2EC"/>
                </a:solidFill>
                <a:latin typeface="Segoe UI"/>
              </a:rPr>
              <a:t>Parametric envelope sliders (width, depth, height), budget dial, and curated themes.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Natural-Language AI: </a:t>
            </a:r>
            <a:r>
              <a:rPr sz="950">
                <a:solidFill>
                  <a:srgbClr val="DCE2EC"/>
                </a:solidFill>
                <a:latin typeface="Segoe UI"/>
              </a:rPr>
              <a:t>Voice &amp; freeform prompt extraction supporting complex customer wishlists in real-time.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Pareto Scoring: </a:t>
            </a:r>
            <a:r>
              <a:rPr sz="950">
                <a:solidFill>
                  <a:srgbClr val="DCE2EC"/>
                </a:solidFill>
                <a:latin typeface="Segoe UI"/>
              </a:rPr>
              <a:t>Mathematical multi-objective optimization balancing physical clearance, budget, and aesthetics.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Production Speed: </a:t>
            </a:r>
            <a:r>
              <a:rPr sz="950">
                <a:solidFill>
                  <a:srgbClr val="DCE2EC"/>
                </a:solidFill>
                <a:latin typeface="Segoe UI"/>
              </a:rPr>
              <a:t>Generates fully code-compliant Kohler product bundles in under 3 seconds.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383280" cy="416052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194560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5A96EB"/>
                </a:solidFill>
                <a:latin typeface="Segoe UI"/>
              </a:defRPr>
            </a:pPr>
            <a:r>
              <a:t>OFFICIAL DELIVERABLES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Complete Case Study Suite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1. Live WebGL App: </a:t>
            </a:r>
            <a:r>
              <a:rPr sz="950">
                <a:solidFill>
                  <a:srgbClr val="DCE2EC"/>
                </a:solidFill>
                <a:latin typeface="Segoe UI"/>
              </a:rPr>
              <a:t>Interactive 3D space planner deployed to production on Vercel with zero install.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2. Technical Report: </a:t>
            </a:r>
            <a:r>
              <a:rPr sz="950">
                <a:solidFill>
                  <a:srgbClr val="DCE2EC"/>
                </a:solidFill>
                <a:latin typeface="Segoe UI"/>
              </a:rPr>
              <a:t>6-page publication-quality PDF with full prompt architectures &amp; Llama Guard rules.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3. 4-Slide Executive Deck: </a:t>
            </a:r>
            <a:r>
              <a:rPr sz="950">
                <a:solidFill>
                  <a:srgbClr val="DCE2EC"/>
                </a:solidFill>
                <a:latin typeface="Segoe UI"/>
              </a:rPr>
              <a:t>Concise strategic presentation deck for Kohler-MITWPU evaluation committee.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4. Video Walkthrough: </a:t>
            </a:r>
            <a:r>
              <a:rPr sz="950">
                <a:solidFill>
                  <a:srgbClr val="DCE2EC"/>
                </a:solidFill>
                <a:latin typeface="Segoe UI"/>
              </a:rPr>
              <a:t>Comprehensive demonstration of 3D CAD engine &amp; generative recommendation.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4AF37"/>
                </a:solidFill>
                <a:latin typeface="Segoe UI"/>
              </a:defRPr>
            </a:pPr>
            <a:r>
              <a:t>THE BOLD LOOK OF KOHLER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8B6"/>
                </a:solidFill>
                <a:latin typeface="Segoe UI"/>
              </a:defRPr>
            </a:pPr>
            <a:r>
              <a:t>KOHLER-MITWPU AI Research Lab Program  |  Track 1: KOHLER AI Bathroom Designer &amp;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0080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F37"/>
                </a:solidFill>
                <a:latin typeface="Segoe UI"/>
              </a:defRPr>
            </a:pPr>
            <a:r>
              <a:t>2 /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"/>
            <a:ext cx="3108960" cy="292608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4AF37"/>
                </a:solidFill>
                <a:latin typeface="Segoe UI"/>
              </a:defRPr>
            </a:pPr>
            <a:r>
              <a:t>SYSTEM ARCHITECTURE &amp;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End-to-End AI Spatial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8B6"/>
                </a:solidFill>
                <a:latin typeface="Segoe UI"/>
              </a:defRPr>
            </a:pPr>
            <a:r>
              <a:t>From Natural-Language Customer Intent to 100% NKBA-Compliant 3D CAD Layouts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11680"/>
            <a:ext cx="2514600" cy="416052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194560"/>
            <a:ext cx="2185416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5A96EB"/>
                </a:solidFill>
                <a:latin typeface="Segoe UI"/>
              </a:defRPr>
            </a:pPr>
            <a:r>
              <a:t>STAGE 01</a:t>
            </a:r>
          </a:p>
          <a:p>
            <a:pPr>
              <a:spcAft>
                <a:spcPts val="12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Input &amp; Guardrails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Regex &amp; NLP Parser: </a:t>
            </a:r>
            <a:r>
              <a:rPr sz="900">
                <a:solidFill>
                  <a:srgbClr val="DCE2EC"/>
                </a:solidFill>
                <a:latin typeface="Segoe UI"/>
              </a:rPr>
              <a:t>Extracts dimensions (12x9 ft), room category (Spa, Powder), and budget caps.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Dynamic Badging: </a:t>
            </a:r>
            <a:r>
              <a:rPr sz="900">
                <a:solidFill>
                  <a:srgbClr val="DCE2EC"/>
                </a:solidFill>
                <a:latin typeface="Segoe UI"/>
              </a:rPr>
              <a:t>Visual feedback chips confirm extracted constraints before prompt execution.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Prompt Guard 22M: </a:t>
            </a:r>
            <a:r>
              <a:rPr sz="900">
                <a:solidFill>
                  <a:srgbClr val="DCE2EC"/>
                </a:solidFill>
                <a:latin typeface="Segoe UI"/>
              </a:rPr>
              <a:t>Meta Llama security model sanitizes prompt injection and jailbreak attempts on Groq Cloud.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011680"/>
            <a:ext cx="2514600" cy="416052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2194560"/>
            <a:ext cx="2185416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STAGE 02</a:t>
            </a:r>
          </a:p>
          <a:p>
            <a:pPr>
              <a:spcAft>
                <a:spcPts val="12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Spatial Reasoning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Groq Cloud LLM: </a:t>
            </a:r>
            <a:r>
              <a:rPr sz="900">
                <a:solidFill>
                  <a:srgbClr val="DCE2EC"/>
                </a:solidFill>
                <a:latin typeface="Segoe UI"/>
              </a:rPr>
              <a:t>Powered by Llama 3.3 70B Versatile for high-speed contextual fixture selection.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Fixture Constraints: </a:t>
            </a:r>
            <a:r>
              <a:rPr sz="900">
                <a:solidFill>
                  <a:srgbClr val="DCE2EC"/>
                </a:solidFill>
                <a:latin typeface="Segoe UI"/>
              </a:rPr>
              <a:t>Enforces single-faucet rules for integrated vanities vs vessel basins.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Deterministic Fallback: </a:t>
            </a:r>
            <a:r>
              <a:rPr sz="900">
                <a:solidFill>
                  <a:srgbClr val="DCE2EC"/>
                </a:solidFill>
                <a:latin typeface="Segoe UI"/>
              </a:rPr>
              <a:t>Offline Python/JS multi-objective engine ensures 100% uptime if offline.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011680"/>
            <a:ext cx="2514600" cy="416052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194560"/>
            <a:ext cx="2185416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40C08A"/>
                </a:solidFill>
                <a:latin typeface="Segoe UI"/>
              </a:defRPr>
            </a:pPr>
            <a:r>
              <a:t>STAGE 03</a:t>
            </a:r>
          </a:p>
          <a:p>
            <a:pPr>
              <a:spcAft>
                <a:spcPts val="12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Pareto Optimization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Composite Formula: </a:t>
            </a:r>
            <a:r>
              <a:rPr sz="900">
                <a:solidFill>
                  <a:srgbClr val="DCE2EC"/>
                </a:solidFill>
                <a:latin typeface="Segoe UI"/>
              </a:rPr>
              <a:t>Fitness = 0.25*Spatial + 0.20*Budget + 0.20*Theme + 0.15*Func + 0.10*Eco + 0.10*WetWall.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Clearance Checks: </a:t>
            </a:r>
            <a:r>
              <a:rPr sz="900">
                <a:solidFill>
                  <a:srgbClr val="DCE2EC"/>
                </a:solidFill>
                <a:latin typeface="Segoe UI"/>
              </a:rPr>
              <a:t>21" toilet front, 24" shower entry, 15" centerline clearances strictly evaluated.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Wet-Wall Alignment: </a:t>
            </a:r>
            <a:r>
              <a:rPr sz="900">
                <a:solidFill>
                  <a:srgbClr val="DCE2EC"/>
                </a:solidFill>
                <a:latin typeface="Segoe UI"/>
              </a:rPr>
              <a:t>Optimizes fixture placement along primary plumbing stack (up to 94%).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011680"/>
            <a:ext cx="2514600" cy="416052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5712" y="2194560"/>
            <a:ext cx="2185416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B48CF0"/>
                </a:solidFill>
                <a:latin typeface="Segoe UI"/>
              </a:defRPr>
            </a:pPr>
            <a:r>
              <a:t>STAGE 04</a:t>
            </a:r>
          </a:p>
          <a:p>
            <a:pPr>
              <a:spcAft>
                <a:spcPts val="12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3D WebGL &amp; XAI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Three.js r128 Engine: </a:t>
            </a:r>
            <a:r>
              <a:rPr sz="900">
                <a:solidFill>
                  <a:srgbClr val="DCE2EC"/>
                </a:solidFill>
                <a:latin typeface="Segoe UI"/>
              </a:rPr>
              <a:t>Real-time client rendering with soft shadows, 3 perspectives (3D, 2D, Walk-in).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Dynamic Rebuilding: </a:t>
            </a:r>
            <a:r>
              <a:rPr sz="900">
                <a:solidFill>
                  <a:srgbClr val="DCE2EC"/>
                </a:solidFill>
                <a:latin typeface="Segoe UI"/>
              </a:rPr>
              <a:t>Instant parametric remodeling of walls, trim, floor tiles, and entrance door.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Explainable AI (XAI): </a:t>
            </a:r>
            <a:r>
              <a:rPr sz="900">
                <a:solidFill>
                  <a:srgbClr val="DCE2EC"/>
                </a:solidFill>
                <a:latin typeface="Segoe UI"/>
              </a:rPr>
              <a:t>Transparent decision cards display clearance margin, budget %, and rough-in specs.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4AF37"/>
                </a:solidFill>
                <a:latin typeface="Segoe UI"/>
              </a:defRPr>
            </a:pPr>
            <a:r>
              <a:t>THE BOLD LOOK OF KOHLER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8B6"/>
                </a:solidFill>
                <a:latin typeface="Segoe UI"/>
              </a:defRPr>
            </a:pPr>
            <a:r>
              <a:t>KOHLER-MITWPU AI Research Lab Program  |  Track 1: KOHLER AI Bathroom Designer &amp;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0080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F37"/>
                </a:solidFill>
                <a:latin typeface="Segoe UI"/>
              </a:defRPr>
            </a:pPr>
            <a:r>
              <a:t>3 /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"/>
            <a:ext cx="3108960" cy="292608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4AF37"/>
                </a:solidFill>
                <a:latin typeface="Segoe UI"/>
              </a:defRPr>
            </a:pPr>
            <a:r>
              <a:t>TECHNICAL EXECUTION &amp; 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Authentic Kohler Engineering &amp; 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8B6"/>
                </a:solidFill>
                <a:latin typeface="Segoe UI"/>
              </a:defRPr>
            </a:pPr>
            <a:r>
              <a:t>Zero-Discrepancy Architecture Built Upon 16 Genuine Kohler Production SKUs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11680"/>
            <a:ext cx="5212080" cy="201168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488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5A96EB"/>
                </a:solidFill>
                <a:latin typeface="Segoe UI"/>
              </a:defRPr>
            </a:pPr>
            <a:r>
              <a:t>3D GRAPHICS &amp; CLIENT RUNTIME</a:t>
            </a:r>
          </a:p>
          <a:p>
            <a:pPr>
              <a:spcAft>
                <a:spcPts val="600"/>
              </a:spcAft>
              <a:defRPr sz="1250" b="1">
                <a:solidFill>
                  <a:srgbClr val="FFFFFF"/>
                </a:solidFill>
                <a:latin typeface="Segoe UI"/>
              </a:defRPr>
            </a:pPr>
            <a:r>
              <a:t>Three.js WebGL &amp; Modular Architecture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DCE2EC"/>
                </a:solidFill>
                <a:latin typeface="Segoe UI"/>
              </a:rPr>
              <a:t>• 15 Isolated ES6+ Modules:</a:t>
            </a:r>
            <a:r>
              <a:rPr sz="900">
                <a:solidFill>
                  <a:srgbClr val="A0A8B6"/>
                </a:solidFill>
                <a:latin typeface="Segoe UI"/>
              </a:rPr>
              <a:t> High maintainability with zero global namespace pollution.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DCE2EC"/>
                </a:solidFill>
                <a:latin typeface="Segoe UI"/>
              </a:rPr>
              <a:t>• Procedural PBR Materials:</a:t>
            </a:r>
            <a:r>
              <a:rPr sz="900">
                <a:solidFill>
                  <a:srgbClr val="A0A8B6"/>
                </a:solidFill>
                <a:latin typeface="Segoe UI"/>
              </a:rPr>
              <a:t> Calacatta marble, Marquina stone, Welsh slate, Carrara, Teak.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DCE2EC"/>
                </a:solidFill>
                <a:latin typeface="Segoe UI"/>
              </a:rPr>
              <a:t>• Circadian Lighting:</a:t>
            </a:r>
            <a:r>
              <a:rPr sz="900">
                <a:solidFill>
                  <a:srgbClr val="A0A8B6"/>
                </a:solidFill>
                <a:latin typeface="Segoe UI"/>
              </a:rPr>
              <a:t> Real-time CCT Kelvin simulation (Day 5000K, Dusk 2700K, Night).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5212080" cy="201168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D4AF37"/>
                </a:solidFill>
                <a:latin typeface="Segoe UI"/>
              </a:defRPr>
            </a:pPr>
            <a:r>
              <a:t>BACKEND &amp; CLOUD AI</a:t>
            </a:r>
          </a:p>
          <a:p>
            <a:pPr>
              <a:spcAft>
                <a:spcPts val="600"/>
              </a:spcAft>
              <a:defRPr sz="1250" b="1">
                <a:solidFill>
                  <a:srgbClr val="FFFFFF"/>
                </a:solidFill>
                <a:latin typeface="Segoe UI"/>
              </a:defRPr>
            </a:pPr>
            <a:r>
              <a:t>Node.js Server &amp; Python Microservice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DCE2EC"/>
                </a:solidFill>
                <a:latin typeface="Segoe UI"/>
              </a:rPr>
              <a:t>• Node.js HTTP Server:</a:t>
            </a:r>
            <a:r>
              <a:rPr sz="900">
                <a:solidFill>
                  <a:srgbClr val="A0A8B6"/>
                </a:solidFill>
                <a:latin typeface="Segoe UI"/>
              </a:rPr>
              <a:t> Dynamic component compilation (build.js) and secure Groq proxy.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DCE2EC"/>
                </a:solidFill>
                <a:latin typeface="Segoe UI"/>
              </a:rPr>
              <a:t>• Python AI Engine (ai_engine/):</a:t>
            </a:r>
            <a:r>
              <a:rPr sz="900">
                <a:solidFill>
                  <a:srgbClr val="A0A8B6"/>
                </a:solidFill>
                <a:latin typeface="Segoe UI"/>
              </a:rPr>
              <a:t> Zero-dependency implementation (Standard Library only).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DCE2EC"/>
                </a:solidFill>
                <a:latin typeface="Segoe UI"/>
              </a:rPr>
              <a:t>• Edge Ready:</a:t>
            </a:r>
            <a:r>
              <a:rPr sz="900">
                <a:solidFill>
                  <a:srgbClr val="A0A8B6"/>
                </a:solidFill>
                <a:latin typeface="Segoe UI"/>
              </a:rPr>
              <a:t> Configured with vercel.json for global edge deployment with offline fallbacks.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5212080" cy="201168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40C08A"/>
                </a:solidFill>
                <a:latin typeface="Segoe UI"/>
              </a:defRPr>
            </a:pPr>
            <a:r>
              <a:t>AUTHENTIC CATALOG DATABASE</a:t>
            </a:r>
          </a:p>
          <a:p>
            <a:pPr>
              <a:spcAft>
                <a:spcPts val="600"/>
              </a:spcAft>
              <a:defRPr sz="1250" b="1">
                <a:solidFill>
                  <a:srgbClr val="FFFFFF"/>
                </a:solidFill>
                <a:latin typeface="Segoe UI"/>
              </a:defRPr>
            </a:pPr>
            <a:r>
              <a:t>16 Genuine Kohler Production Fixtures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DCE2EC"/>
                </a:solidFill>
                <a:latin typeface="Segoe UI"/>
              </a:rPr>
              <a:t>• Smart &amp; 1-Piece Toilets:</a:t>
            </a:r>
            <a:r>
              <a:rPr sz="900">
                <a:solidFill>
                  <a:srgbClr val="A0A8B6"/>
                </a:solidFill>
                <a:latin typeface="Segoe UI"/>
              </a:rPr>
              <a:t> Veil™ (K-5401IN), Reach™ (K-3983IN-S), Ove™ (K-17688IN).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DCE2EC"/>
                </a:solidFill>
                <a:latin typeface="Segoe UI"/>
              </a:rPr>
              <a:t>• Integrated Vanities &amp; Basins:</a:t>
            </a:r>
            <a:r>
              <a:rPr sz="900">
                <a:solidFill>
                  <a:srgbClr val="A0A8B6"/>
                </a:solidFill>
                <a:latin typeface="Segoe UI"/>
              </a:rPr>
              <a:t> Trace™ (K-30375IN), Vive™ (K-28782IN), Brazn™ &amp; Forefront™.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DCE2EC"/>
                </a:solidFill>
                <a:latin typeface="Segoe UI"/>
              </a:rPr>
              <a:t>• Showers &amp; Fittings:</a:t>
            </a:r>
            <a:r>
              <a:rPr sz="900">
                <a:solidFill>
                  <a:srgbClr val="A0A8B6"/>
                </a:solidFill>
                <a:latin typeface="Segoe UI"/>
              </a:rPr>
              <a:t> Statement™ Katalyst, Evok 2.0™ bath, New Trilogy™, Purist™ &amp; Parallel™.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206240"/>
            <a:ext cx="5212080" cy="201168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3434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F0A050"/>
                </a:solidFill>
                <a:latin typeface="Segoe UI"/>
              </a:defRPr>
            </a:pPr>
            <a:r>
              <a:t>PRECISION &amp; VERIFICATION</a:t>
            </a:r>
          </a:p>
          <a:p>
            <a:pPr>
              <a:spcAft>
                <a:spcPts val="600"/>
              </a:spcAft>
              <a:defRPr sz="1250" b="1">
                <a:solidFill>
                  <a:srgbClr val="FFFFFF"/>
                </a:solidFill>
                <a:latin typeface="Segoe UI"/>
              </a:defRPr>
            </a:pPr>
            <a:r>
              <a:t>Zero Pricing Discrepancy &amp; Automated QA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DCE2EC"/>
                </a:solidFill>
                <a:latin typeface="Segoe UI"/>
              </a:rPr>
              <a:t>• Single Source of Truth:</a:t>
            </a:r>
            <a:r>
              <a:rPr sz="900">
                <a:solidFill>
                  <a:srgbClr val="A0A8B6"/>
                </a:solidFill>
                <a:latin typeface="Segoe UI"/>
              </a:rPr>
              <a:t> $0 discrepancy between live 3D investment counter and quote BOM.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DCE2EC"/>
                </a:solidFill>
                <a:latin typeface="Segoe UI"/>
              </a:rPr>
              <a:t>• Modular Verification:</a:t>
            </a:r>
            <a:r>
              <a:rPr sz="900">
                <a:solidFill>
                  <a:srgbClr val="A0A8B6"/>
                </a:solidFill>
                <a:latin typeface="Segoe UI"/>
              </a:rPr>
              <a:t> Automated test_modular.js verifies all 11 components &amp; 15 modules.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DCE2EC"/>
                </a:solidFill>
                <a:latin typeface="Segoe UI"/>
              </a:rPr>
              <a:t>• Python Test Suite:</a:t>
            </a:r>
            <a:r>
              <a:rPr sz="900">
                <a:solidFill>
                  <a:srgbClr val="A0A8B6"/>
                </a:solidFill>
                <a:latin typeface="Segoe UI"/>
              </a:rPr>
              <a:t> 9 unit tests checking NLP, clearance, and Pareto math in &lt;5ms.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4AF37"/>
                </a:solidFill>
                <a:latin typeface="Segoe UI"/>
              </a:defRPr>
            </a:pPr>
            <a:r>
              <a:t>THE BOLD LOOK OF KOHLER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8B6"/>
                </a:solidFill>
                <a:latin typeface="Segoe UI"/>
              </a:defRPr>
            </a:pPr>
            <a:r>
              <a:t>KOHLER-MITWPU AI Research Lab Program  |  Track 1: KOHLER AI Bathroom Designer &amp;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0080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F37"/>
                </a:solidFill>
                <a:latin typeface="Segoe UI"/>
              </a:defRPr>
            </a:pPr>
            <a:r>
              <a:t>4 /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"/>
            <a:ext cx="3108960" cy="292608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4AF37"/>
                </a:solidFill>
                <a:latin typeface="Segoe UI"/>
              </a:defRPr>
            </a:pPr>
            <a:r>
              <a:t>INNOVATION &amp; BUSINESS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Commercial Value &amp; Sustainability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8B6"/>
                </a:solidFill>
                <a:latin typeface="Segoe UI"/>
              </a:defRPr>
            </a:pPr>
            <a:r>
              <a:t>Accelerating Showroom Conversion While Championing Kohler Water Conservation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11680"/>
            <a:ext cx="3383280" cy="310896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5A96EB"/>
                </a:solidFill>
                <a:latin typeface="Segoe UI"/>
              </a:defRPr>
            </a:pPr>
            <a:r>
              <a:t>MEP PLUMBING OPTIMIZATION</a:t>
            </a:r>
          </a:p>
          <a:p>
            <a:pPr>
              <a:spcAft>
                <a:spcPts val="1000"/>
              </a:spcAft>
              <a:defRPr sz="1350" b="1">
                <a:solidFill>
                  <a:srgbClr val="FFFFFF"/>
                </a:solidFill>
                <a:latin typeface="Segoe UI"/>
              </a:defRPr>
            </a:pPr>
            <a:r>
              <a:t>Wet-Wall Alignment Engine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Stack Efficiency: </a:t>
            </a:r>
            <a:r>
              <a:rPr sz="900">
                <a:solidFill>
                  <a:srgbClr val="DCE2EC"/>
                </a:solidFill>
                <a:latin typeface="Segoe UI"/>
              </a:rPr>
              <a:t>Evaluates alignment of water supply &amp; waste lines along primary wet-wall stack (up to 94%).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Cost Reduction: </a:t>
            </a:r>
            <a:r>
              <a:rPr sz="900">
                <a:solidFill>
                  <a:srgbClr val="DCE2EC"/>
                </a:solidFill>
                <a:latin typeface="Segoe UI"/>
              </a:rPr>
              <a:t>Reduces horizontal pipe trenching, core-drilling, and plumbing labor costs by up to 25%.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Trade Friendly: </a:t>
            </a:r>
            <a:r>
              <a:rPr sz="900">
                <a:solidFill>
                  <a:srgbClr val="DCE2EC"/>
                </a:solidFill>
                <a:latin typeface="Segoe UI"/>
              </a:rPr>
              <a:t>Generates instant rough-in layout guidelines for MEP contractors and installers.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011680"/>
            <a:ext cx="3383280" cy="310896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40C08A"/>
                </a:solidFill>
                <a:latin typeface="Segoe UI"/>
              </a:defRPr>
            </a:pPr>
            <a:r>
              <a:t>ENVIRONMENTAL STEWARDSHIP</a:t>
            </a:r>
          </a:p>
          <a:p>
            <a:pPr>
              <a:spcAft>
                <a:spcPts val="1000"/>
              </a:spcAft>
              <a:defRPr sz="1350" b="1">
                <a:solidFill>
                  <a:srgbClr val="FFFFFF"/>
                </a:solidFill>
                <a:latin typeface="Segoe UI"/>
              </a:defRPr>
            </a:pPr>
            <a:r>
              <a:t>WaterSense® &amp; Carbon Offset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Katalyst® Physics: </a:t>
            </a:r>
            <a:r>
              <a:rPr sz="900">
                <a:solidFill>
                  <a:srgbClr val="DCE2EC"/>
                </a:solidFill>
                <a:latin typeface="Segoe UI"/>
              </a:rPr>
              <a:t>Models 2.2M air bubbles/minute air-induction spray physics for luxury flow at reduced volume.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Water Conservation: </a:t>
            </a:r>
            <a:r>
              <a:rPr sz="900">
                <a:solidFill>
                  <a:srgbClr val="DCE2EC"/>
                </a:solidFill>
                <a:latin typeface="Segoe UI"/>
              </a:rPr>
              <a:t>Calculates annual liters saved based on EPA WaterSense® 4.8 LPF dual flush &amp; 1.2 GPM aerators.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Carbon Tracking: </a:t>
            </a:r>
            <a:r>
              <a:rPr sz="900">
                <a:solidFill>
                  <a:srgbClr val="DCE2EC"/>
                </a:solidFill>
                <a:latin typeface="Segoe UI"/>
              </a:rPr>
              <a:t>Live calculation of equivalent carbon offset footprint (kg CO2e) inside quote BOM.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383280" cy="310896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1945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B2B TRADE ACCELERATION</a:t>
            </a:r>
          </a:p>
          <a:p>
            <a:pPr>
              <a:spcAft>
                <a:spcPts val="1000"/>
              </a:spcAft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Studio Kohler Specifier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Multi-Currency BOM: </a:t>
            </a:r>
            <a:r>
              <a:rPr sz="900">
                <a:solidFill>
                  <a:srgbClr val="DCE2EC"/>
                </a:solidFill>
                <a:latin typeface="Segoe UI"/>
              </a:rPr>
              <a:t>Instant conversion across INR (₹), USD ($), and CAD ($) with real-time exchange rates.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MEP Data Sheets: </a:t>
            </a:r>
            <a:r>
              <a:rPr sz="900">
                <a:solidFill>
                  <a:srgbClr val="DCE2EC"/>
                </a:solidFill>
                <a:latin typeface="Segoe UI"/>
              </a:rPr>
              <a:t>B2B specifier tables detailing 12" toilet rough-in, 1-1/4" P-traps, and 1/2" NPT supply valves.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Architectural Spec: </a:t>
            </a:r>
            <a:r>
              <a:rPr sz="900">
                <a:solidFill>
                  <a:srgbClr val="DCE2EC"/>
                </a:solidFill>
                <a:latin typeface="Segoe UI"/>
              </a:rPr>
              <a:t>Instant Bill of Materials export with multi-currency quoting and rough-in cut sheets.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12151C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413248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  <a:latin typeface="Segoe UI"/>
              </a:defRPr>
            </a:pPr>
            <a:r>
              <a:t>90% FASTER</a:t>
            </a:r>
          </a:p>
          <a:p>
            <a:pPr algn="ctr">
              <a:defRPr sz="850">
                <a:solidFill>
                  <a:srgbClr val="A0A8B6"/>
                </a:solidFill>
                <a:latin typeface="Segoe UI"/>
              </a:defRPr>
            </a:pPr>
            <a:r>
              <a:t>Showroom Quote Cycles (&lt;60s vs 3-7 Days)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6140" y="5413248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  <a:latin typeface="Segoe UI"/>
              </a:defRPr>
            </a:pPr>
            <a:r>
              <a:t>100% PASS</a:t>
            </a:r>
          </a:p>
          <a:p>
            <a:pPr algn="ctr">
              <a:defRPr sz="850">
                <a:solidFill>
                  <a:srgbClr val="A0A8B6"/>
                </a:solidFill>
                <a:latin typeface="Segoe UI"/>
              </a:defRPr>
            </a:pPr>
            <a:r>
              <a:t>NKBA &amp; ADA Physical Clearance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5413248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  <a:latin typeface="Segoe UI"/>
              </a:defRPr>
            </a:pPr>
            <a:r>
              <a:t>$0 DISCREPANCY</a:t>
            </a:r>
          </a:p>
          <a:p>
            <a:pPr algn="ctr">
              <a:defRPr sz="850">
                <a:solidFill>
                  <a:srgbClr val="A0A8B6"/>
                </a:solidFill>
                <a:latin typeface="Segoe UI"/>
              </a:defRPr>
            </a:pPr>
            <a:r>
              <a:t>Unified 3D Investment Counter &amp; Quote BOM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5380" y="5413248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  <a:latin typeface="Segoe UI"/>
              </a:defRPr>
            </a:pPr>
            <a:r>
              <a:t>OMNICHANNEL</a:t>
            </a:r>
          </a:p>
          <a:p>
            <a:pPr algn="ctr">
              <a:defRPr sz="850">
                <a:solidFill>
                  <a:srgbClr val="A0A8B6"/>
                </a:solidFill>
                <a:latin typeface="Segoe UI"/>
              </a:defRPr>
            </a:pPr>
            <a:r>
              <a:t>Web, Mobile &amp; Experience Center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