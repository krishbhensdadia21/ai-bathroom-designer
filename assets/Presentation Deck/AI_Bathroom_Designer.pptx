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85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923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6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6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6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9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58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9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61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6" y="6400800"/>
            <a:ext cx="4315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dirty="0"/>
              <a:t>1 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6607" y="290578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3200" u="sng" dirty="0"/>
              <a:t>KOHLER AI Bathroom Designer &amp; Planner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F668B8-0CEE-560A-1CBA-F084597E4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01" y="489204"/>
            <a:ext cx="1130880" cy="11308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6993B0-74F5-6760-908B-CCC123DED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287" y="489204"/>
            <a:ext cx="1130880" cy="11308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7E1A7A-060A-645F-B4EF-91EDD0B56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80" y="5087040"/>
            <a:ext cx="1130880" cy="11308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23FBF8-7278-45A1-F554-12F475CD8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9287" y="5087040"/>
            <a:ext cx="1130880" cy="1130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6" y="6400800"/>
            <a:ext cx="4315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2</a:t>
            </a:r>
            <a:r>
              <a:rPr dirty="0"/>
              <a:t> 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u="sng" dirty="0"/>
              <a:t>Executive Summary &amp;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2011680"/>
            <a:ext cx="5246401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9940" y="2361708"/>
            <a:ext cx="4444181" cy="355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E65F5F"/>
                </a:solidFill>
                <a:latin typeface="Segoe UI"/>
              </a:defRPr>
            </a:pPr>
            <a:r>
              <a:rPr sz="1300" dirty="0"/>
              <a:t>THE INDUSTRY PROBLEM</a:t>
            </a:r>
            <a:r>
              <a:rPr lang="en-IN" sz="1300" dirty="0"/>
              <a:t> - </a:t>
            </a:r>
            <a:r>
              <a:rPr sz="1300" u="sng" dirty="0"/>
              <a:t>Showroom Consultation Latency</a:t>
            </a:r>
            <a:br>
              <a:rPr lang="en-IN" sz="1300" u="sng" dirty="0"/>
            </a:br>
            <a:endParaRPr sz="1300" u="sng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3–7 Day Cycles: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Manual back-and-forth between homeowners, architects, and Kohler showroom sales reps.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Clearance Violations: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Real-world installations frequently violate NKBA &amp; ADA physical building clearances.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MEP Disconnects: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Neglecting wet-wall plumbing stacks causes excessive core-drilling and ballooning costs.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Pricing Inaccuracies: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Discrepancies between 3D conceptual renderings and actual itemized B2B quotes.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9459" y="2011680"/>
            <a:ext cx="5246401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80996" y="2394123"/>
            <a:ext cx="3977640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sz="1300" dirty="0"/>
              <a:t>OUR CORE APPROACH</a:t>
            </a:r>
            <a:r>
              <a:rPr lang="en-IN" sz="1300" dirty="0"/>
              <a:t> - </a:t>
            </a:r>
            <a:r>
              <a:rPr sz="1300" u="sng" dirty="0"/>
              <a:t>Dual-Pathway Spatial AI</a:t>
            </a:r>
            <a:br>
              <a:rPr lang="en-IN" sz="1300" dirty="0"/>
            </a:br>
            <a:endParaRPr sz="13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DCE2EC"/>
                </a:solidFill>
                <a:latin typeface="Segoe UI"/>
              </a:rPr>
              <a:t>Predefined Constraints &amp; Inclusions: </a:t>
            </a:r>
            <a:r>
              <a:rPr lang="en-US" sz="1200" dirty="0">
                <a:solidFill>
                  <a:srgbClr val="DCE2EC"/>
                </a:solidFill>
                <a:latin typeface="Segoe UI"/>
              </a:rPr>
              <a:t>Parametric room envelope sliders, target budget dial, and interactive Fixture Inclusions (Toilet, Shower, Vanity, Mirror, Bathtub).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Natural-Language AI: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Voice &amp; freeform prompt extraction supporting complex customer </a:t>
            </a:r>
            <a:r>
              <a:rPr sz="1200" dirty="0" err="1">
                <a:solidFill>
                  <a:srgbClr val="DCE2EC"/>
                </a:solidFill>
                <a:latin typeface="Segoe UI"/>
              </a:rPr>
              <a:t>wishlists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 in real-time.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Pareto Scoring: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Mathematical multi-objective optimization balancing physical clearance, budget, and aesthetics.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Production Speed: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Generates fully code-compliant Kohler product bundles in under 3 seconds.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7D9A4D-1AF7-810B-FC89-E9F48EF55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B647DC-312A-7EA3-05F7-A952A07E1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6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4864"/>
            <a:ext cx="12192000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28647" y="6400800"/>
            <a:ext cx="4315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3 /</a:t>
            </a:r>
            <a:r>
              <a:rPr dirty="0"/>
              <a:t>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815934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u="sng" dirty="0"/>
              <a:t>End-to-End AI Spatial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194560"/>
            <a:ext cx="2185416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A96EB"/>
                </a:solidFill>
                <a:latin typeface="Segoe UI"/>
              </a:defRPr>
            </a:pPr>
            <a:r>
              <a:rPr sz="1200" dirty="0"/>
              <a:t>STAGE 01</a:t>
            </a:r>
            <a:r>
              <a:rPr lang="en-IN" sz="1200" dirty="0"/>
              <a:t> - </a:t>
            </a:r>
            <a:r>
              <a:rPr sz="1200" u="sng" dirty="0"/>
              <a:t>Input &amp; Guardrails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Segoe UI"/>
              </a:rPr>
              <a:t>Regex &amp; NLP Parser: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Extracts dimensions (12x9 ft), budget ceilings, aesthetic theme, and fixture intent tokens (e.g. soaking tub, smart bidet, no shower).</a:t>
            </a:r>
            <a:br>
              <a:rPr lang="en-IN" sz="1100" dirty="0">
                <a:solidFill>
                  <a:srgbClr val="DCE2EC"/>
                </a:solidFill>
                <a:latin typeface="Segoe UI"/>
              </a:rPr>
            </a:br>
            <a:endParaRPr sz="11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FFFFFF"/>
                </a:solidFill>
                <a:latin typeface="Segoe UI"/>
              </a:rPr>
              <a:t>Dynamic Badging: </a:t>
            </a:r>
            <a:r>
              <a:rPr sz="1100" dirty="0">
                <a:solidFill>
                  <a:srgbClr val="DCE2EC"/>
                </a:solidFill>
                <a:latin typeface="Segoe UI"/>
              </a:rPr>
              <a:t>Visual feedback chips confirm extracted constraints before prompt execution.</a:t>
            </a:r>
            <a:br>
              <a:rPr lang="en-IN" sz="1100" dirty="0">
                <a:solidFill>
                  <a:srgbClr val="DCE2EC"/>
                </a:solidFill>
                <a:latin typeface="Segoe UI"/>
              </a:rPr>
            </a:br>
            <a:endParaRPr sz="11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FFFFFF"/>
                </a:solidFill>
                <a:latin typeface="Segoe UI"/>
              </a:rPr>
              <a:t>Prompt Guard 22M: </a:t>
            </a:r>
            <a:r>
              <a:rPr sz="1100" dirty="0">
                <a:solidFill>
                  <a:srgbClr val="DCE2EC"/>
                </a:solidFill>
                <a:latin typeface="Segoe UI"/>
              </a:rPr>
              <a:t>Meta Llama security model sanitizes prompt injection and jailbreak attempts on </a:t>
            </a:r>
            <a:r>
              <a:rPr sz="1100" dirty="0" err="1">
                <a:solidFill>
                  <a:srgbClr val="DCE2EC"/>
                </a:solidFill>
                <a:latin typeface="Segoe UI"/>
              </a:rPr>
              <a:t>Groq</a:t>
            </a:r>
            <a:r>
              <a:rPr sz="1100" dirty="0">
                <a:solidFill>
                  <a:srgbClr val="DCE2EC"/>
                </a:solidFill>
                <a:latin typeface="Segoe UI"/>
              </a:rPr>
              <a:t> Cloud.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2194560"/>
            <a:ext cx="2185416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sz="1200" dirty="0"/>
              <a:t>STAGE 02</a:t>
            </a:r>
            <a:r>
              <a:rPr lang="en-IN" sz="1200" dirty="0"/>
              <a:t> - </a:t>
            </a:r>
            <a:r>
              <a:rPr sz="1200" u="sng" dirty="0"/>
              <a:t>Spatial Reasoning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FFFFFF"/>
                </a:solidFill>
                <a:latin typeface="Segoe UI"/>
              </a:rPr>
              <a:t>Groq</a:t>
            </a:r>
            <a:r>
              <a:rPr sz="1200" b="1" dirty="0">
                <a:solidFill>
                  <a:srgbClr val="FFFFFF"/>
                </a:solidFill>
                <a:latin typeface="Segoe UI"/>
              </a:rPr>
              <a:t> Cloud LLM: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Powered by Llama 3.3 70B Versatile for high-speed contextual fixture selection.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Fixture Constraints: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Enforces single-faucet rules for integrated vanities vs vessel basins.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Deterministic Fallback: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Offline Python/JS multi-objective engine ensures 100% uptime if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194560"/>
            <a:ext cx="2185416" cy="391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0C08A"/>
                </a:solidFill>
                <a:latin typeface="Segoe UI"/>
              </a:defRPr>
            </a:pPr>
            <a:r>
              <a:rPr sz="1200" dirty="0"/>
              <a:t>STAGE 03</a:t>
            </a:r>
            <a:r>
              <a:rPr lang="en-IN" sz="1200" dirty="0"/>
              <a:t> - </a:t>
            </a:r>
            <a:r>
              <a:rPr sz="1200" u="sng" dirty="0"/>
              <a:t>Pareto Optimization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Composite Formula: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Fitness = 0.25*Spatial + 0.20*Budget + 0.20*Theme + 0.15*</a:t>
            </a:r>
            <a:r>
              <a:rPr sz="1150" dirty="0" err="1">
                <a:solidFill>
                  <a:srgbClr val="DCE2EC"/>
                </a:solidFill>
                <a:latin typeface="Segoe UI"/>
              </a:rPr>
              <a:t>Func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 + 0.10*Eco + 0.10*</a:t>
            </a:r>
            <a:r>
              <a:rPr sz="1150" dirty="0" err="1">
                <a:solidFill>
                  <a:srgbClr val="DCE2EC"/>
                </a:solidFill>
                <a:latin typeface="Segoe UI"/>
              </a:rPr>
              <a:t>WetWall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DCE2EC"/>
                </a:solidFill>
                <a:latin typeface="Segoe UI"/>
              </a:rPr>
              <a:t>Ergonomic Clearance Checks: </a:t>
            </a:r>
            <a:r>
              <a:rPr lang="en-US" sz="1150" dirty="0">
                <a:solidFill>
                  <a:srgbClr val="DCE2EC"/>
                </a:solidFill>
                <a:latin typeface="Segoe UI"/>
              </a:rPr>
              <a:t>NKBA 21" toilet front, 15" side centerline, 24" shower entry, and 21" bathtub access perimeter strictly verified.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Wet-Wall Alignment: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Optimizes fixture placement along primary plumbing stack (up to 94%).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25712" y="2194560"/>
            <a:ext cx="2185416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B48CF0"/>
                </a:solidFill>
                <a:latin typeface="Segoe UI"/>
              </a:defRPr>
            </a:pPr>
            <a:r>
              <a:rPr sz="1200" dirty="0"/>
              <a:t>STAGE 04</a:t>
            </a:r>
            <a:r>
              <a:rPr lang="en-IN" sz="1200" dirty="0"/>
              <a:t> - </a:t>
            </a:r>
            <a:r>
              <a:rPr sz="1200" dirty="0"/>
              <a:t>3</a:t>
            </a:r>
            <a:r>
              <a:rPr sz="1200" u="sng" dirty="0"/>
              <a:t>D WebGL &amp; XAI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Three.js r128 Engine: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Real-time client rendering with soft shadows, 3 perspectives (3D, 2D, Walk-in).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Dynamic Rebuilding: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Instant parametric remodeling of walls, trim, floor tiles, and entrance door.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Explainable AI (XAI):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Transparent decision cards display clearance margin, budget %, and rough-in specs.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29CBFC-D72B-93CD-21AB-53BB812D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F2E88D-974C-B6A4-C7CD-E860E4D6A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6747826-74C3-D618-8BF0-9852DBF3A305}"/>
              </a:ext>
            </a:extLst>
          </p:cNvPr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rPr dirty="0"/>
              <a:t>KOHLER-MITWPU AI Research Lab Program  |  Track 1: KOHLER AI Bathroom Designer &amp; Planner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rPr dirty="0"/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7" y="6400800"/>
            <a:ext cx="4315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4 </a:t>
            </a:r>
            <a:r>
              <a:rPr dirty="0"/>
              <a:t>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6607" y="999256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u="sng" dirty="0"/>
              <a:t>Technical Execution &amp; </a:t>
            </a:r>
            <a:r>
              <a:rPr lang="en-IN" u="sng" dirty="0" err="1"/>
              <a:t>Catalog</a:t>
            </a:r>
            <a:endParaRPr lang="en-IN" u="sng"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84632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A96EB"/>
                </a:solidFill>
                <a:latin typeface="Segoe UI"/>
              </a:defRPr>
            </a:pPr>
            <a:r>
              <a:rPr sz="1200" dirty="0"/>
              <a:t>3D GRAPHICS &amp; CLIENT RUNTIME</a:t>
            </a:r>
            <a:r>
              <a:rPr lang="en-IN" sz="1200" dirty="0"/>
              <a:t> - </a:t>
            </a:r>
            <a:r>
              <a:rPr sz="1200" u="sng" dirty="0"/>
              <a:t>Three.js WebGL &amp; Modular Architecture</a:t>
            </a:r>
            <a:br>
              <a:rPr lang="en-IN" sz="1200" u="sng" dirty="0"/>
            </a:br>
            <a:endParaRPr sz="1200" u="sng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15 Isolated ES6+ Modules: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High maintainability with zero global namespace pollution.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Procedural PBR Materials: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Calacatta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marble,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Marquina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stone, Welsh slate, Carrara, Teak.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Circadian Lighting: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Real-time CCT Kelvin simulation (Day 5000K, Dusk 2700K, Night).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84632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4AF37"/>
                </a:solidFill>
                <a:latin typeface="Segoe UI"/>
              </a:defRPr>
            </a:pPr>
            <a:r>
              <a:rPr sz="1200" dirty="0"/>
              <a:t>BACKEND &amp; CLOUD AI</a:t>
            </a:r>
            <a:r>
              <a:rPr lang="en-IN" sz="1200" dirty="0"/>
              <a:t> - </a:t>
            </a:r>
            <a:r>
              <a:rPr sz="1200" u="sng" dirty="0"/>
              <a:t>Node.js Server &amp; Python Microservice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Node.js HTTP Server: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Dynamic component compilation (build.js) and secure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Groq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proxy.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Python AI Engine (</a:t>
            </a:r>
            <a:r>
              <a:rPr sz="1200" b="1" dirty="0" err="1">
                <a:solidFill>
                  <a:srgbClr val="DCE2EC"/>
                </a:solidFill>
                <a:latin typeface="Segoe UI"/>
              </a:rPr>
              <a:t>ai_engine</a:t>
            </a:r>
            <a:r>
              <a:rPr sz="1200" b="1" dirty="0">
                <a:solidFill>
                  <a:srgbClr val="DCE2EC"/>
                </a:solidFill>
                <a:latin typeface="Segoe UI"/>
              </a:rPr>
              <a:t>/):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Zero-dependency implementation (Standard Library only).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Edge Ready: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Configured with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vercel.json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for global edge deployment with offline fallbacks.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502920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40C08A"/>
                </a:solidFill>
                <a:latin typeface="Segoe UI"/>
              </a:defRPr>
            </a:pPr>
            <a:r>
              <a:rPr sz="1200" dirty="0"/>
              <a:t>AUTHENTIC CATALOG DATABASE</a:t>
            </a:r>
            <a:r>
              <a:rPr lang="en-IN" sz="1200" dirty="0"/>
              <a:t> - </a:t>
            </a:r>
            <a:r>
              <a:rPr lang="en-US" sz="1200" u="sng" dirty="0"/>
              <a:t>60 Genuine Kohler Production Fixtures Across 8 Categories</a:t>
            </a:r>
            <a:br>
              <a:rPr lang="en-IN" sz="1200" dirty="0"/>
            </a:br>
            <a:endParaRPr lang="en-IN" sz="1200" dirty="0"/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  <a:defRPr sz="850" b="1">
                <a:solidFill>
                  <a:srgbClr val="40C08A"/>
                </a:solidFill>
                <a:latin typeface="Segoe UI"/>
              </a:defRPr>
            </a:pPr>
            <a:r>
              <a:rPr lang="en-US" sz="900" b="1" dirty="0">
                <a:solidFill>
                  <a:srgbClr val="DCE2EC"/>
                </a:solidFill>
                <a:latin typeface="Segoe UI"/>
              </a:rPr>
              <a:t>Toilets &amp; Bidets (12 SKUs): Veil™ Smart One-Piece (K-5401IN), Innate™, Reach™ Wall-Hung, Ove™, Leap™, </a:t>
            </a:r>
            <a:r>
              <a:rPr lang="en-US" sz="900" b="1" dirty="0" err="1">
                <a:solidFill>
                  <a:srgbClr val="DCE2EC"/>
                </a:solidFill>
                <a:latin typeface="Segoe UI"/>
              </a:rPr>
              <a:t>Vive</a:t>
            </a:r>
            <a:r>
              <a:rPr lang="en-US" sz="900" b="1" dirty="0">
                <a:solidFill>
                  <a:srgbClr val="DCE2EC"/>
                </a:solidFill>
                <a:latin typeface="Segoe UI"/>
              </a:rPr>
              <a:t>™.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  <a:defRPr sz="850" b="1">
                <a:solidFill>
                  <a:srgbClr val="40C08A"/>
                </a:solidFill>
                <a:latin typeface="Segoe UI"/>
              </a:defRPr>
            </a:pPr>
            <a:r>
              <a:rPr lang="en-US" sz="900" b="1" dirty="0">
                <a:solidFill>
                  <a:srgbClr val="DCE2EC"/>
                </a:solidFill>
                <a:latin typeface="Segoe UI"/>
              </a:rPr>
              <a:t>Vanities &amp; Basins (12 SKUs): Trace™ (K-30375IN), </a:t>
            </a:r>
            <a:r>
              <a:rPr lang="en-US" sz="900" b="1" dirty="0" err="1">
                <a:solidFill>
                  <a:srgbClr val="DCE2EC"/>
                </a:solidFill>
                <a:latin typeface="Segoe UI"/>
              </a:rPr>
              <a:t>Vive</a:t>
            </a:r>
            <a:r>
              <a:rPr lang="en-US" sz="900" b="1" dirty="0">
                <a:solidFill>
                  <a:srgbClr val="DCE2EC"/>
                </a:solidFill>
                <a:latin typeface="Segoe UI"/>
              </a:rPr>
              <a:t>™ (K-28782IN), </a:t>
            </a:r>
            <a:r>
              <a:rPr lang="en-US" sz="900" b="1" dirty="0" err="1">
                <a:solidFill>
                  <a:srgbClr val="DCE2EC"/>
                </a:solidFill>
                <a:latin typeface="Segoe UI"/>
              </a:rPr>
              <a:t>Brazn</a:t>
            </a:r>
            <a:r>
              <a:rPr lang="en-US" sz="900" b="1" dirty="0">
                <a:solidFill>
                  <a:srgbClr val="DCE2EC"/>
                </a:solidFill>
                <a:latin typeface="Segoe UI"/>
              </a:rPr>
              <a:t>™ Vessel, Forefront™ Semi-Recessed.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  <a:defRPr sz="850" b="1">
                <a:solidFill>
                  <a:srgbClr val="40C08A"/>
                </a:solidFill>
                <a:latin typeface="Segoe UI"/>
              </a:defRPr>
            </a:pPr>
            <a:r>
              <a:rPr lang="en-US" sz="900" b="1" dirty="0">
                <a:solidFill>
                  <a:srgbClr val="DCE2EC"/>
                </a:solidFill>
                <a:latin typeface="Segoe UI"/>
              </a:rPr>
              <a:t>Showers Subcategorized (11 SKUs): Statement™ </a:t>
            </a:r>
            <a:r>
              <a:rPr lang="en-US" sz="900" b="1" dirty="0" err="1">
                <a:solidFill>
                  <a:srgbClr val="DCE2EC"/>
                </a:solidFill>
                <a:latin typeface="Segoe UI"/>
              </a:rPr>
              <a:t>Katalyst</a:t>
            </a:r>
            <a:r>
              <a:rPr lang="en-US" sz="900" b="1" dirty="0">
                <a:solidFill>
                  <a:srgbClr val="DCE2EC"/>
                </a:solidFill>
                <a:latin typeface="Segoe UI"/>
              </a:rPr>
              <a:t> </a:t>
            </a:r>
            <a:r>
              <a:rPr lang="en-US" sz="900" b="1" dirty="0" err="1">
                <a:solidFill>
                  <a:srgbClr val="DCE2EC"/>
                </a:solidFill>
                <a:latin typeface="Segoe UI"/>
              </a:rPr>
              <a:t>Rainhead</a:t>
            </a:r>
            <a:r>
              <a:rPr lang="en-US" sz="900" b="1" dirty="0">
                <a:solidFill>
                  <a:srgbClr val="DCE2EC"/>
                </a:solidFill>
                <a:latin typeface="Segoe UI"/>
              </a:rPr>
              <a:t>, Elate™ &amp; Contra™ Sliding Enclosures, New Trilogy™ Pivot Doors.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  <a:defRPr sz="850" b="1">
                <a:solidFill>
                  <a:srgbClr val="40C08A"/>
                </a:solidFill>
                <a:latin typeface="Segoe UI"/>
              </a:defRPr>
            </a:pPr>
            <a:r>
              <a:rPr lang="en-US" sz="900" b="1" dirty="0">
                <a:solidFill>
                  <a:srgbClr val="DCE2EC"/>
                </a:solidFill>
                <a:latin typeface="Segoe UI"/>
              </a:rPr>
              <a:t>Bathtubs, Faucets &amp; Smart Mirrors (25 SKUs): </a:t>
            </a:r>
            <a:r>
              <a:rPr lang="en-US" sz="900" b="1" dirty="0" err="1">
                <a:solidFill>
                  <a:srgbClr val="DCE2EC"/>
                </a:solidFill>
                <a:latin typeface="Segoe UI"/>
              </a:rPr>
              <a:t>Evok</a:t>
            </a:r>
            <a:r>
              <a:rPr lang="en-US" sz="900" b="1" dirty="0">
                <a:solidFill>
                  <a:srgbClr val="DCE2EC"/>
                </a:solidFill>
                <a:latin typeface="Segoe UI"/>
              </a:rPr>
              <a:t> 2.0™ Freestanding Acrylic Soaking &amp; Whirlpool Tubs, Purist™, Parallel™, </a:t>
            </a:r>
            <a:r>
              <a:rPr lang="en-US" sz="900" b="1" dirty="0" err="1">
                <a:solidFill>
                  <a:srgbClr val="DCE2EC"/>
                </a:solidFill>
                <a:latin typeface="Segoe UI"/>
              </a:rPr>
              <a:t>Verdera</a:t>
            </a:r>
            <a:r>
              <a:rPr lang="en-US" sz="900" b="1" dirty="0">
                <a:solidFill>
                  <a:srgbClr val="DCE2EC"/>
                </a:solidFill>
                <a:latin typeface="Segoe UI"/>
              </a:rPr>
              <a:t>™ Voice &amp; Ming™ LED Mirrors.</a:t>
            </a:r>
            <a:endParaRPr sz="900" dirty="0">
              <a:solidFill>
                <a:srgbClr val="A0A8B6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484632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0A050"/>
                </a:solidFill>
                <a:latin typeface="Segoe UI"/>
              </a:defRPr>
            </a:pPr>
            <a:r>
              <a:rPr sz="1200" dirty="0"/>
              <a:t>PRECISION &amp; VERIFICATION</a:t>
            </a:r>
            <a:r>
              <a:rPr lang="en-IN" sz="1200" dirty="0"/>
              <a:t> - </a:t>
            </a:r>
            <a:r>
              <a:rPr sz="1200" u="sng" dirty="0"/>
              <a:t>Zero Pricing Discrepancy &amp; Automated QA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Single Source of Truth: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$0 discrepancy between live 3D investment counter and quote BOM.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Modular Verification: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Automated test_modular.js verifies all 12 components &amp; 15 modules.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Python Test Suite: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9 unit tests checking NLP, clearance, and Pareto math in &lt;5ms.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DE3E99-AAFA-07B4-2D53-889D4DA2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7140F8-F894-37F1-AD6A-215CF715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6" y="6400800"/>
            <a:ext cx="4315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5</a:t>
            </a:r>
            <a:r>
              <a:rPr dirty="0"/>
              <a:t> /</a:t>
            </a:r>
            <a:r>
              <a:rPr lang="en-IN" dirty="0"/>
              <a:t> 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Commercial Value &amp; Sustainability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383280" cy="352801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301752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A96EB"/>
                </a:solidFill>
                <a:latin typeface="Segoe UI"/>
              </a:defRPr>
            </a:pPr>
            <a:r>
              <a:rPr sz="1300" dirty="0"/>
              <a:t>MEP PLUMBING OPTIMIZATION</a:t>
            </a:r>
            <a:r>
              <a:rPr lang="en-IN" sz="1300" dirty="0"/>
              <a:t> - </a:t>
            </a:r>
            <a:r>
              <a:rPr sz="1300" u="sng" dirty="0"/>
              <a:t>Wet-Wall Alignment Engine</a:t>
            </a:r>
            <a:br>
              <a:rPr lang="en-IN" sz="1300" dirty="0"/>
            </a:br>
            <a:endParaRPr sz="13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Stack Efficiency: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Evaluates alignment of water supply &amp; waste lines along primary wet-wall stack (up to 94%).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Cost Reduction: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Reduces horizontal pipe trenching, core-drilling, and plumbing labor costs by up to 25%.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Trade Friendly: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Generates instant rough-in layout guidelines for MEP contractors and installers.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383280" cy="352801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1752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0C08A"/>
                </a:solidFill>
                <a:latin typeface="Segoe UI"/>
              </a:defRPr>
            </a:pPr>
            <a:r>
              <a:rPr sz="1250" dirty="0"/>
              <a:t>ENVIRONMENTAL STEWARDSHIP</a:t>
            </a:r>
            <a:r>
              <a:rPr lang="en-IN" sz="1250" dirty="0"/>
              <a:t> - </a:t>
            </a:r>
            <a:r>
              <a:rPr sz="1250" u="sng" dirty="0" err="1"/>
              <a:t>WaterSense</a:t>
            </a:r>
            <a:r>
              <a:rPr sz="1250" u="sng" dirty="0"/>
              <a:t>® &amp; Carbon Offset</a:t>
            </a:r>
            <a:br>
              <a:rPr lang="en-IN" sz="1250" dirty="0"/>
            </a:br>
            <a:endParaRPr sz="125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 err="1">
                <a:solidFill>
                  <a:srgbClr val="FFFFFF"/>
                </a:solidFill>
                <a:latin typeface="Segoe UI"/>
              </a:rPr>
              <a:t>Katalyst</a:t>
            </a:r>
            <a:r>
              <a:rPr sz="1200" b="1" dirty="0">
                <a:solidFill>
                  <a:srgbClr val="FFFFFF"/>
                </a:solidFill>
                <a:latin typeface="Segoe UI"/>
              </a:rPr>
              <a:t>® Physics: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Models 2.2M air bubbles/minute air-induction spray physics for luxury flow at reduced volume.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Water Conservation: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Calculates annual liters saved based on EPA </a:t>
            </a:r>
            <a:r>
              <a:rPr sz="1200" dirty="0" err="1">
                <a:solidFill>
                  <a:srgbClr val="DCE2EC"/>
                </a:solidFill>
                <a:latin typeface="Segoe UI"/>
              </a:rPr>
              <a:t>WaterSense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® 4.8 LPF dual flush &amp; 1.2 GPM aerators.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Carbon Tracking: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Live calculation of equivalent carbon offset footprint (kg CO2e) inside quote BOM.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352801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sz="1300" dirty="0"/>
              <a:t>B2B TRADE ACCELERATION</a:t>
            </a:r>
            <a:r>
              <a:rPr lang="en-IN" sz="1300" dirty="0"/>
              <a:t> - </a:t>
            </a:r>
            <a:r>
              <a:rPr sz="1300" u="sng" dirty="0"/>
              <a:t>Studio Kohler Specifier</a:t>
            </a:r>
            <a:br>
              <a:rPr lang="en-IN" sz="1300" dirty="0"/>
            </a:br>
            <a:endParaRPr sz="13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Multi-Currency BOM: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Instant conversion across INR (₹), USD ($), and CAD ($) with real-time exchange rates.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MEP Data Sheets: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B2B specifier tables detailing 12" toilet rough-in, 1-1/4" P-traps, and 1/2" NPT supply valves.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601021C-46E2-E89D-31D7-A8A29C138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F8249D-1DDE-FBBF-1096-E41BAA29F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7" y="6400800"/>
            <a:ext cx="4315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6</a:t>
            </a:r>
            <a:r>
              <a:rPr dirty="0"/>
              <a:t> 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6607" y="290578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sz="3200" i="1" dirty="0"/>
              <a:t>Thank you</a:t>
            </a:r>
            <a:endParaRPr sz="3200" i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F668B8-0CEE-560A-1CBA-F084597E4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01" y="489204"/>
            <a:ext cx="1130880" cy="11308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6993B0-74F5-6760-908B-CCC123DED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287" y="489204"/>
            <a:ext cx="1130880" cy="11308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7E1A7A-060A-645F-B4EF-91EDD0B56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80" y="5087040"/>
            <a:ext cx="1130880" cy="11308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23FBF8-7278-45A1-F554-12F475CD8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9287" y="5087040"/>
            <a:ext cx="1130880" cy="11308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EBBA9E-A38A-6201-C2A2-6C446B248739}"/>
              </a:ext>
            </a:extLst>
          </p:cNvPr>
          <p:cNvSpPr txBox="1"/>
          <p:nvPr/>
        </p:nvSpPr>
        <p:spPr>
          <a:xfrm>
            <a:off x="851710" y="3627715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sz="3200" i="1" dirty="0"/>
              <a:t>By Krish Bhensdadia</a:t>
            </a:r>
            <a:endParaRPr sz="3200" i="1" dirty="0"/>
          </a:p>
        </p:txBody>
      </p:sp>
    </p:spTree>
    <p:extLst>
      <p:ext uri="{BB962C8B-B14F-4D97-AF65-F5344CB8AC3E}">
        <p14:creationId xmlns:p14="http://schemas.microsoft.com/office/powerpoint/2010/main" val="39462443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169</TotalTime>
  <Words>1070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Krish Bhensdadiya</cp:lastModifiedBy>
  <cp:revision>5</cp:revision>
  <dcterms:created xsi:type="dcterms:W3CDTF">2013-01-27T09:14:16Z</dcterms:created>
  <dcterms:modified xsi:type="dcterms:W3CDTF">2026-09-20T05:14:27Z</dcterms:modified>
  <cp:category/>
</cp:coreProperties>
</file>